
<file path=[Content_Types].xml><?xml version="1.0" encoding="utf-8"?>
<Types xmlns="http://schemas.openxmlformats.org/package/2006/content-types">
  <Override PartName="/ppt/slideLayouts/slideLayout39.xml" ContentType="application/vnd.openxmlformats-officedocument.presentationml.slideLayout+xml"/>
  <Override PartName="/ppt/slideLayouts/slideLayout57.xml" ContentType="application/vnd.openxmlformats-officedocument.presentationml.slideLayout+xml"/>
  <Override PartName="/ppt/tags/tag8.xml" ContentType="application/vnd.openxmlformats-officedocument.presentationml.tags+xml"/>
  <Override PartName="/customXml/itemProps1.xml" ContentType="application/vnd.openxmlformats-officedocument.customXmlProperties+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tags/tag4.xml" ContentType="application/vnd.openxmlformats-officedocument.presentationml.tags+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tags/tag49.xml" ContentType="application/vnd.openxmlformats-officedocument.presentationml.tag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tags/tag38.xml" ContentType="application/vnd.openxmlformats-officedocument.presentationml.tags+xml"/>
  <Override PartName="/ppt/tags/tag56.xml" ContentType="application/vnd.openxmlformats-officedocument.presentationml.tags+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tags/tag16.xml" ContentType="application/vnd.openxmlformats-officedocument.presentationml.tags+xml"/>
  <Override PartName="/ppt/tags/tag27.xml" ContentType="application/vnd.openxmlformats-officedocument.presentationml.tags+xml"/>
  <Override PartName="/ppt/tags/tag45.xml" ContentType="application/vnd.openxmlformats-officedocument.presentationml.tags+xml"/>
  <Override PartName="/ppt/tags/tag63.xml" ContentType="application/vnd.openxmlformats-officedocument.presentationml.tags+xml"/>
  <Override PartName="/docProps/custom.xml" ContentType="application/vnd.openxmlformats-officedocument.custom-properties+xml"/>
  <Override PartName="/ppt/tags/tag34.xml" ContentType="application/vnd.openxmlformats-officedocument.presentationml.tags+xml"/>
  <Override PartName="/ppt/tags/tag52.xml" ContentType="application/vnd.openxmlformats-officedocument.presentationml.tags+xml"/>
  <Override PartName="/ppt/tags/tag12.xml" ContentType="application/vnd.openxmlformats-officedocument.presentationml.tags+xml"/>
  <Override PartName="/ppt/tags/tag23.xml" ContentType="application/vnd.openxmlformats-officedocument.presentationml.tags+xml"/>
  <Override PartName="/ppt/tags/tag41.xml" ContentType="application/vnd.openxmlformats-officedocument.presentationml.tags+xml"/>
  <Override PartName="/ppt/viewProps.xml" ContentType="application/vnd.openxmlformats-officedocument.presentationml.viewProps+xml"/>
  <Override PartName="/ppt/tags/tag9.xml" ContentType="application/vnd.openxmlformats-officedocument.presentationml.tags+xml"/>
  <Override PartName="/ppt/tags/tag30.xml" ContentType="application/vnd.openxmlformats-officedocument.presentationml.tags+xml"/>
  <Override PartName="/customXml/itemProps2.xml" ContentType="application/vnd.openxmlformats-officedocument.customXmlProperties+xml"/>
  <Override PartName="/ppt/slideLayouts/slideLayout7.xml" ContentType="application/vnd.openxmlformats-officedocument.presentationml.slideLayout+xml"/>
  <Override PartName="/ppt/slideLayouts/slideLayout29.xml" ContentType="application/vnd.openxmlformats-officedocument.presentationml.slideLayout+xml"/>
  <Override PartName="/ppt/slideLayouts/slideLayout58.xml" ContentType="application/vnd.openxmlformats-officedocument.presentationml.slideLayout+xml"/>
  <Default Extension="png" ContentType="image/png"/>
  <Override PartName="/ppt/presProps.xml" ContentType="application/vnd.openxmlformats-officedocument.presentationml.presProps+xml"/>
  <Override PartName="/ppt/slideLayouts/slideLayout18.xml" ContentType="application/vnd.openxmlformats-officedocument.presentationml.slideLayout+xml"/>
  <Override PartName="/ppt/slideLayouts/slideLayout36.xml" ContentType="application/vnd.openxmlformats-officedocument.presentationml.slideLayout+xml"/>
  <Override PartName="/ppt/slideLayouts/slideLayout47.xml" ContentType="application/vnd.openxmlformats-officedocument.presentationml.slideLayout+xml"/>
  <Override PartName="/ppt/slideLayouts/slideLayout65.xml" ContentType="application/vnd.openxmlformats-officedocument.presentationml.slideLayout+xml"/>
  <Override PartName="/ppt/tags/tag5.xml" ContentType="application/vnd.openxmlformats-officedocument.presentationml.tags+xml"/>
  <Override PartName="/ppt/theme/theme2.xml" ContentType="application/vnd.openxmlformats-officedocument.theme+xml"/>
  <Override PartName="/ppt/slides/slide1.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tags/tag3.xml" ContentType="application/vnd.openxmlformats-officedocument.presentationml.tags+xml"/>
  <Default Extension="jpeg" ContentType="image/jpeg"/>
  <Override PartName="/ppt/tags/tag39.xml" ContentType="application/vnd.openxmlformats-officedocument.presentationml.tags+xml"/>
  <Override PartName="/ppt/tags/tag59.xml" ContentType="application/vnd.openxmlformats-officedocument.presentationml.tags+xml"/>
  <Override PartName="/ppt/presentation.xml" ContentType="application/vnd.openxmlformats-officedocument.presentationml.presentation.main+xml"/>
  <Override PartName="/ppt/tags/tag1.xml" ContentType="application/vnd.openxmlformats-officedocument.presentationml.tags+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tags/tag19.xml" ContentType="application/vnd.openxmlformats-officedocument.presentationml.tags+xml"/>
  <Override PartName="/ppt/tags/tag28.xml" ContentType="application/vnd.openxmlformats-officedocument.presentationml.tags+xml"/>
  <Override PartName="/ppt/tags/tag37.xml" ContentType="application/vnd.openxmlformats-officedocument.presentationml.tags+xml"/>
  <Override PartName="/ppt/tags/tag48.xml" ContentType="application/vnd.openxmlformats-officedocument.presentationml.tags+xml"/>
  <Override PartName="/ppt/tags/tag57.xml" ContentType="application/vnd.openxmlformats-officedocument.presentationml.tags+xml"/>
  <Override PartName="/docProps/app.xml" ContentType="application/vnd.openxmlformats-officedocument.extended-properties+xml"/>
  <Override PartName="/ppt/authors.xml" ContentType="application/vnd.ms-powerpoint.author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tags/tag17.xml" ContentType="application/vnd.openxmlformats-officedocument.presentationml.tags+xml"/>
  <Override PartName="/ppt/tags/tag26.xml" ContentType="application/vnd.openxmlformats-officedocument.presentationml.tags+xml"/>
  <Override PartName="/ppt/tags/tag35.xml" ContentType="application/vnd.openxmlformats-officedocument.presentationml.tags+xml"/>
  <Override PartName="/ppt/tags/tag46.xml" ContentType="application/vnd.openxmlformats-officedocument.presentationml.tags+xml"/>
  <Override PartName="/ppt/tags/tag55.xml" ContentType="application/vnd.openxmlformats-officedocument.presentationml.tags+xml"/>
  <Override PartName="/ppt/tags/tag64.xml" ContentType="application/vnd.openxmlformats-officedocument.presentationml.tags+xml"/>
  <Override PartName="/ppt/slideLayouts/slideLayout10.xml" ContentType="application/vnd.openxmlformats-officedocument.presentationml.slideLayout+xml"/>
  <Override PartName="/ppt/tags/tag15.xml" ContentType="application/vnd.openxmlformats-officedocument.presentationml.tags+xml"/>
  <Override PartName="/ppt/tags/tag24.xml" ContentType="application/vnd.openxmlformats-officedocument.presentationml.tags+xml"/>
  <Override PartName="/ppt/tags/tag33.xml" ContentType="application/vnd.openxmlformats-officedocument.presentationml.tags+xml"/>
  <Override PartName="/ppt/tags/tag44.xml" ContentType="application/vnd.openxmlformats-officedocument.presentationml.tags+xml"/>
  <Override PartName="/ppt/tags/tag53.xml" ContentType="application/vnd.openxmlformats-officedocument.presentationml.tags+xml"/>
  <Override PartName="/ppt/tags/tag62.xml" ContentType="application/vnd.openxmlformats-officedocument.presentationml.tags+xml"/>
  <Override PartName="/ppt/tags/tag13.xml" ContentType="application/vnd.openxmlformats-officedocument.presentationml.tags+xml"/>
  <Override PartName="/ppt/tags/tag22.xml" ContentType="application/vnd.openxmlformats-officedocument.presentationml.tags+xml"/>
  <Override PartName="/ppt/tags/tag31.xml" ContentType="application/vnd.openxmlformats-officedocument.presentationml.tags+xml"/>
  <Override PartName="/ppt/tags/tag40.xml" ContentType="application/vnd.openxmlformats-officedocument.presentationml.tags+xml"/>
  <Override PartName="/ppt/tags/tag42.xml" ContentType="application/vnd.openxmlformats-officedocument.presentationml.tags+xml"/>
  <Override PartName="/ppt/tags/tag51.xml" ContentType="application/vnd.openxmlformats-officedocument.presentationml.tags+xml"/>
  <Override PartName="/ppt/tags/tag60.xml" ContentType="application/vnd.openxmlformats-officedocument.presentationml.tags+xml"/>
  <Override PartName="/ppt/handoutMasters/handoutMaster1.xml" ContentType="application/vnd.openxmlformats-officedocument.presentationml.handoutMaster+xml"/>
  <Override PartName="/ppt/slideLayouts/slideLayout59.xml" ContentType="application/vnd.openxmlformats-officedocument.presentationml.slideLayout+xml"/>
  <Override PartName="/ppt/tags/tag11.xml" ContentType="application/vnd.openxmlformats-officedocument.presentationml.tags+xml"/>
  <Override PartName="/ppt/tags/tag20.xml" ContentType="application/vnd.openxmlformats-officedocument.presentationml.tags+xml"/>
  <Override PartName="/ppt/charts/chart2.xml" ContentType="application/vnd.openxmlformats-officedocument.drawingml.chart+xml"/>
  <Override PartName="/docProps/core.xml" ContentType="application/vnd.openxmlformats-package.core-properties+xml"/>
  <Override PartName="/customXml/itemProps3.xml" ContentType="application/vnd.openxmlformats-officedocument.customXmlProperties+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tags/tag6.xml" ContentType="application/vnd.openxmlformats-officedocument.presentationml.tags+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theme/theme3.xml" ContentType="application/vnd.openxmlformats-officedocument.them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tags/tag2.xml" ContentType="application/vnd.openxmlformats-officedocument.presentationml.tags+xml"/>
  <Override PartName="/ppt/tags/tag58.xml" ContentType="application/vnd.openxmlformats-officedocument.presentationml.tags+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tags/tag29.xml" ContentType="application/vnd.openxmlformats-officedocument.presentationml.tags+xml"/>
  <Override PartName="/ppt/tags/tag47.xml" ContentType="application/vnd.openxmlformats-officedocument.presentationml.tags+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tags/tag18.xml" ContentType="application/vnd.openxmlformats-officedocument.presentationml.tags+xml"/>
  <Override PartName="/ppt/tags/tag36.xml" ContentType="application/vnd.openxmlformats-officedocument.presentationml.tags+xml"/>
  <Override PartName="/ppt/tags/tag54.xml" ContentType="application/vnd.openxmlformats-officedocument.presentationml.tags+xml"/>
  <Override PartName="/ppt/tags/tag14.xml" ContentType="application/vnd.openxmlformats-officedocument.presentationml.tags+xml"/>
  <Override PartName="/ppt/tags/tag25.xml" ContentType="application/vnd.openxmlformats-officedocument.presentationml.tags+xml"/>
  <Override PartName="/ppt/tags/tag43.xml" ContentType="application/vnd.openxmlformats-officedocument.presentationml.tags+xml"/>
  <Override PartName="/ppt/tags/tag61.xml" ContentType="application/vnd.openxmlformats-officedocument.presentationml.tags+xml"/>
  <Override PartName="/ppt/tags/tag32.xml" ContentType="application/vnd.openxmlformats-officedocument.presentationml.tags+xml"/>
  <Override PartName="/ppt/tags/tag50.xml" ContentType="application/vnd.openxmlformats-officedocument.presentationml.tags+xml"/>
  <Override PartName="/ppt/slideLayouts/slideLayout9.xml" ContentType="application/vnd.openxmlformats-officedocument.presentationml.slideLayout+xml"/>
  <Override PartName="/ppt/tags/tag10.xml" ContentType="application/vnd.openxmlformats-officedocument.presentationml.tags+xml"/>
  <Override PartName="/ppt/tags/tag21.xml" ContentType="application/vnd.openxmlformats-officedocument.presentationml.tags+xml"/>
  <Override PartName="/ppt/charts/chart1.xml" ContentType="application/vnd.openxmlformats-officedocument.drawingml.chart+xml"/>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slideLayouts/slideLayout67.xml" ContentType="application/vnd.openxmlformats-officedocument.presentationml.slideLayout+xml"/>
  <Override PartName="/ppt/tags/tag7.xml" ContentType="application/vnd.openxmlformats-officedocument.presentationml.tags+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5.xml" ContentType="application/vnd.openxmlformats-officedocument.presentationml.slideLayout+xml"/>
  <Override PartName="/ppt/slideLayouts/slideLayout56.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FFFF"/>
    <a:srgbClr val="F2F2F2"/>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7" d="100"/>
          <a:sy n="87" d="100"/>
        </p:scale>
        <p:origin x="-437" y="-86"/>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8/10/relationships/authors" Target="author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oleObject" Target="https://d.docs.live.net/1dacaab05e770c2b/Documents/Campaign_Data_Week1_new.xlsx" TargetMode="External"/></Relationships>
</file>

<file path=ppt/charts/_rels/chart2.xml.rels><?xml version="1.0" encoding="UTF-8" standalone="yes"?>
<Relationships xmlns="http://schemas.openxmlformats.org/package/2006/relationships"><Relationship Id="rId1" Type="http://schemas.openxmlformats.org/officeDocument/2006/relationships/oleObject" Target="https://d.docs.live.net/1dacaab05e770c2b/Documents/Campaign_Data_Week1_new.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lang val="en-US"/>
  <c:pivotSource>
    <c:name>[Campaign_Data_Week1_new.xlsx]Channel!PivotTable1</c:name>
    <c:fmtId val="-1"/>
  </c:pivotSource>
  <c:chart>
    <c:title>
      <c:layout/>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pivotFmts>
      <c:pivotFmt>
        <c:idx val="0"/>
        <c:spPr>
          <a:solidFill>
            <a:schemeClr val="accent1"/>
          </a:solidFill>
          <a:ln>
            <a:noFill/>
          </a:ln>
          <a:effectLst/>
        </c:spPr>
        <c:marker>
          <c:symbol val="none"/>
        </c:marker>
        <c:dLbl>
          <c:idx val="0"/>
          <c:delete val="1"/>
          <c:extLst xmlns:c16r2="http://schemas.microsoft.com/office/drawing/2015/06/char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xmlns:c16r2="http://schemas.microsoft.com/office/drawing/2015/06/char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xmlns:c16r2="http://schemas.microsoft.com/office/drawing/2015/06/chart">
            <c:ext xmlns:c15="http://schemas.microsoft.com/office/drawing/2012/chart" uri="{CE6537A1-D6FC-4f65-9D91-7224C49458BB}"/>
          </c:extLst>
        </c:dLbl>
      </c:pivotFmt>
    </c:pivotFmts>
    <c:plotArea>
      <c:layout/>
      <c:barChart>
        <c:barDir val="col"/>
        <c:grouping val="clustered"/>
        <c:ser>
          <c:idx val="0"/>
          <c:order val="0"/>
          <c:tx>
            <c:strRef>
              <c:f>Channel!$B$3</c:f>
              <c:strCache>
                <c:ptCount val="1"/>
                <c:pt idx="0">
                  <c:v>Total</c:v>
                </c:pt>
              </c:strCache>
            </c:strRef>
          </c:tx>
          <c:spPr>
            <a:solidFill>
              <a:schemeClr val="accent1"/>
            </a:solidFill>
            <a:ln>
              <a:noFill/>
            </a:ln>
            <a:effectLst/>
          </c:spPr>
          <c:cat>
            <c:strRef>
              <c:f>Channel!$A$4:$A$7</c:f>
              <c:strCache>
                <c:ptCount val="3"/>
                <c:pt idx="0">
                  <c:v>Email</c:v>
                </c:pt>
                <c:pt idx="1">
                  <c:v>Instagram</c:v>
                </c:pt>
                <c:pt idx="2">
                  <c:v>Web Banner</c:v>
                </c:pt>
              </c:strCache>
            </c:strRef>
          </c:cat>
          <c:val>
            <c:numRef>
              <c:f>Channel!$B$4:$B$7</c:f>
              <c:numCache>
                <c:formatCode>"$"#,##0.00</c:formatCode>
                <c:ptCount val="3"/>
                <c:pt idx="0">
                  <c:v>7909.3100000000049</c:v>
                </c:pt>
                <c:pt idx="1">
                  <c:v>3873.4100000000008</c:v>
                </c:pt>
                <c:pt idx="2">
                  <c:v>2876.8800000000006</c:v>
                </c:pt>
              </c:numCache>
            </c:numRef>
          </c:val>
        </c:ser>
        <c:dLbls/>
        <c:gapWidth val="219"/>
        <c:overlap val="-27"/>
        <c:axId val="113238400"/>
        <c:axId val="118105216"/>
      </c:barChart>
      <c:catAx>
        <c:axId val="113238400"/>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8105216"/>
        <c:crosses val="autoZero"/>
        <c:auto val="1"/>
        <c:lblAlgn val="ctr"/>
        <c:lblOffset val="100"/>
      </c:catAx>
      <c:valAx>
        <c:axId val="118105216"/>
        <c:scaling>
          <c:orientation val="minMax"/>
        </c:scaling>
        <c:axPos val="l"/>
        <c:majorGridlines>
          <c:spPr>
            <a:ln w="9525" cap="flat" cmpd="sng" algn="ctr">
              <a:solidFill>
                <a:schemeClr val="tx1">
                  <a:lumMod val="15000"/>
                  <a:lumOff val="85000"/>
                </a:schemeClr>
              </a:solidFill>
              <a:round/>
            </a:ln>
            <a:effectLst/>
          </c:spPr>
        </c:majorGridlines>
        <c:numFmt formatCode="&quot;$&quot;#,##0.00"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13238400"/>
        <c:crosses val="autoZero"/>
        <c:crossBetween val="between"/>
      </c:valAx>
    </c:plotArea>
    <c:legend>
      <c:legendPos val="r"/>
      <c:layout/>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xmlns:c16r2="http://schemas.microsoft.com/office/drawing/2015/06/chart">
      <c:ext xmlns:c16r3="http://schemas.microsoft.com/office/drawing/2017/03/chart" uri="{56B9EC1D-385E-4148-901F-78D8002777C0}">
        <c16r3:dataDisplayOptions16>
          <c16r3:dispNaAsBlank val="1"/>
        </c16r3:dataDisplayOptions16>
      </c:ext>
    </c:extLst>
  </c:chart>
  <c:txPr>
    <a:bodyPr/>
    <a:lstStyle/>
    <a:p>
      <a:pPr>
        <a:defRPr/>
      </a:pPr>
      <a:endParaRPr lang="en-US"/>
    </a:p>
  </c:txPr>
  <c:externalData r:id="rId1"/>
  <c:extLst xmlns:c16r2="http://schemas.microsoft.com/office/drawing/2015/06/char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c:lang val="en-US"/>
  <c:pivotSource>
    <c:name>[Campaign_Data_Week1_new.xlsx]Campaign!PivotTable3</c:name>
    <c:fmtId val="-1"/>
  </c:pivotSource>
  <c:chart>
    <c:title>
      <c:layout/>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pivotFmts>
      <c:pivotFmt>
        <c:idx val="0"/>
        <c:spPr>
          <a:solidFill>
            <a:schemeClr val="accent1"/>
          </a:solidFill>
          <a:ln>
            <a:noFill/>
          </a:ln>
          <a:effectLst/>
        </c:spPr>
        <c:marker>
          <c:symbol val="none"/>
        </c:marker>
        <c:dLbl>
          <c:idx val="0"/>
          <c:delete val="1"/>
          <c:extLst xmlns:c16r2="http://schemas.microsoft.com/office/drawing/2015/06/chart">
            <c:ext xmlns:c15="http://schemas.microsoft.com/office/drawing/2012/chart" uri="{CE6537A1-D6FC-4f65-9D91-7224C49458BB}"/>
          </c:extLst>
        </c:dLbl>
      </c:pivotFmt>
      <c:pivotFmt>
        <c:idx val="1"/>
        <c:spPr>
          <a:solidFill>
            <a:schemeClr val="accent1"/>
          </a:solidFill>
          <a:ln>
            <a:noFill/>
          </a:ln>
          <a:effectLst/>
        </c:spPr>
        <c:marker>
          <c:symbol val="none"/>
        </c:marker>
        <c:dLbl>
          <c:idx val="0"/>
          <c:delete val="1"/>
          <c:extLst xmlns:c16r2="http://schemas.microsoft.com/office/drawing/2015/06/chart">
            <c:ext xmlns:c15="http://schemas.microsoft.com/office/drawing/2012/chart" uri="{CE6537A1-D6FC-4f65-9D91-7224C49458BB}"/>
          </c:extLst>
        </c:dLbl>
      </c:pivotFmt>
      <c:pivotFmt>
        <c:idx val="2"/>
        <c:spPr>
          <a:solidFill>
            <a:schemeClr val="accent1"/>
          </a:solidFill>
          <a:ln>
            <a:noFill/>
          </a:ln>
          <a:effectLst/>
        </c:spPr>
        <c:marker>
          <c:symbol val="none"/>
        </c:marker>
        <c:dLbl>
          <c:idx val="0"/>
          <c:delete val="1"/>
          <c:extLst xmlns:c16r2="http://schemas.microsoft.com/office/drawing/2015/06/chart">
            <c:ext xmlns:c15="http://schemas.microsoft.com/office/drawing/2012/chart" uri="{CE6537A1-D6FC-4f65-9D91-7224C49458BB}"/>
          </c:extLst>
        </c:dLbl>
      </c:pivotFmt>
    </c:pivotFmts>
    <c:plotArea>
      <c:layout/>
      <c:barChart>
        <c:barDir val="col"/>
        <c:grouping val="clustered"/>
        <c:ser>
          <c:idx val="0"/>
          <c:order val="0"/>
          <c:tx>
            <c:strRef>
              <c:f>Campaign!$B$3</c:f>
              <c:strCache>
                <c:ptCount val="1"/>
                <c:pt idx="0">
                  <c:v>Total</c:v>
                </c:pt>
              </c:strCache>
            </c:strRef>
          </c:tx>
          <c:spPr>
            <a:solidFill>
              <a:schemeClr val="accent1"/>
            </a:solidFill>
            <a:ln>
              <a:noFill/>
            </a:ln>
            <a:effectLst/>
          </c:spPr>
          <c:cat>
            <c:strRef>
              <c:f>Campaign!$A$4:$A$6</c:f>
              <c:strCache>
                <c:ptCount val="2"/>
                <c:pt idx="0">
                  <c:v>A</c:v>
                </c:pt>
                <c:pt idx="1">
                  <c:v>B</c:v>
                </c:pt>
              </c:strCache>
            </c:strRef>
          </c:cat>
          <c:val>
            <c:numRef>
              <c:f>Campaign!$B$4:$B$6</c:f>
              <c:numCache>
                <c:formatCode>"$"#,##0.00</c:formatCode>
                <c:ptCount val="2"/>
                <c:pt idx="0">
                  <c:v>5869.5600000000031</c:v>
                </c:pt>
                <c:pt idx="1">
                  <c:v>8790.0400000000045</c:v>
                </c:pt>
              </c:numCache>
            </c:numRef>
          </c:val>
        </c:ser>
        <c:dLbls/>
        <c:gapWidth val="219"/>
        <c:overlap val="-27"/>
        <c:axId val="60707584"/>
        <c:axId val="60715008"/>
      </c:barChart>
      <c:catAx>
        <c:axId val="60707584"/>
        <c:scaling>
          <c:orientation val="minMax"/>
        </c:scaling>
        <c:axPos val="b"/>
        <c:numFmt formatCode="General" sourceLinked="1"/>
        <c:maj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715008"/>
        <c:crosses val="autoZero"/>
        <c:auto val="1"/>
        <c:lblAlgn val="ctr"/>
        <c:lblOffset val="100"/>
      </c:catAx>
      <c:valAx>
        <c:axId val="60715008"/>
        <c:scaling>
          <c:orientation val="minMax"/>
        </c:scaling>
        <c:axPos val="l"/>
        <c:majorGridlines>
          <c:spPr>
            <a:ln w="9525" cap="flat" cmpd="sng" algn="ctr">
              <a:solidFill>
                <a:schemeClr val="tx1">
                  <a:lumMod val="15000"/>
                  <a:lumOff val="85000"/>
                </a:schemeClr>
              </a:solidFill>
              <a:round/>
            </a:ln>
            <a:effectLst/>
          </c:spPr>
        </c:majorGridlines>
        <c:numFmt formatCode="&quot;$&quot;#,##0.00" sourceLinked="1"/>
        <c:maj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0707584"/>
        <c:crosses val="autoZero"/>
        <c:crossBetween val="between"/>
      </c:valAx>
    </c:plotArea>
    <c:legend>
      <c:legendPos val="r"/>
      <c:layout/>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xmlns:c16r2="http://schemas.microsoft.com/office/drawing/2015/06/chart">
      <c:ext xmlns:c16r3="http://schemas.microsoft.com/office/drawing/2017/03/chart" uri="{56B9EC1D-385E-4148-901F-78D8002777C0}">
        <c16r3:dataDisplayOptions16>
          <c16r3:dispNaAsBlank val="1"/>
        </c16r3:dataDisplayOptions16>
      </c:ext>
    </c:extLst>
  </c:chart>
  <c:txPr>
    <a:bodyPr/>
    <a:lstStyle/>
    <a:p>
      <a:pPr>
        <a:defRPr/>
      </a:pPr>
      <a:endParaRPr lang="en-US"/>
    </a:p>
  </c:txPr>
  <c:externalData r:id="rId1"/>
  <c:extLst xmlns:c16r2="http://schemas.microsoft.com/office/drawing/2015/06/char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pPr/>
              <a:t>3/15/2026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pPr/>
              <a:t>‹#›</a:t>
            </a:fld>
            <a:endParaRPr lang="en-US" sz="800" dirty="0"/>
          </a:p>
        </p:txBody>
      </p:sp>
    </p:spTree>
    <p:extLst>
      <p:ext uri="{BB962C8B-B14F-4D97-AF65-F5344CB8AC3E}">
        <p14:creationId xmlns:p14="http://schemas.microsoft.com/office/powerpoint/2010/main" xmlns=""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pPr/>
              <a:t>3/15/2026</a:t>
            </a:fld>
            <a:endParaRPr lang="en-US"/>
          </a:p>
        </p:txBody>
      </p:sp>
    </p:spTree>
    <p:extLst>
      <p:ext uri="{BB962C8B-B14F-4D97-AF65-F5344CB8AC3E}">
        <p14:creationId xmlns:p14="http://schemas.microsoft.com/office/powerpoint/2010/main" xmlns=""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xmlns="">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6.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8.xml"/><Relationship Id="rId1" Type="http://schemas.openxmlformats.org/officeDocument/2006/relationships/tags" Target="../tags/tag27.xml"/><Relationship Id="rId4" Type="http://schemas.openxmlformats.org/officeDocument/2006/relationships/image" Target="../media/image2.jpeg"/></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5.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6.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7.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8.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8.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8.xml"/><Relationship Id="rId1" Type="http://schemas.openxmlformats.org/officeDocument/2006/relationships/tags" Target="../tags/tag57.xml"/><Relationship Id="rId4" Type="http://schemas.openxmlformats.org/officeDocument/2006/relationships/image" Target="../media/image2.jpeg"/></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9.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3" name="Rectangle 2" hidden="1"/>
          <p:cNvSpPr/>
          <p:nvPr userDrawn="1">
            <p:custDataLst>
              <p:tags r:id="rId1"/>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5">
            <a:extLst>
              <a:ext uri="{28A0092B-C50C-407E-A947-70E740481C1C}">
                <a14:useLocalDpi xmlns:a14="http://schemas.microsoft.com/office/drawing/2010/main" xmlns=""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2"/>
            </p:custDataLst>
          </p:nvPr>
        </p:nvPicPr>
        <p:blipFill rotWithShape="1">
          <a:blip r:embed="rId6">
            <a:extLst>
              <a:ext uri="{28A0092B-C50C-407E-A947-70E740481C1C}">
                <a14:useLocalDpi xmlns:a14="http://schemas.microsoft.com/office/drawing/2010/main" xmlns=""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3"/>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xmlns="" val="151518358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xmlns="" val="165731206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xmlns=""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273000349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205271040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712323402"/>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40505854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388427764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359226384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165149677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1923524179"/>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63280906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167257739"/>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xmlns="" val="367917419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0920821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xmlns="" val="2974192123"/>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69287176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extLst>
    <p:ext uri="{DCECCB84-F9BA-43D5-87BE-67443E8EF086}">
      <p15:sldGuideLst xmlns:p15="http://schemas.microsoft.com/office/powerpoint/2012/main" xmlns=""/>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xmlns="" val="243807868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extLst>
    <p:ext uri="{DCECCB84-F9BA-43D5-87BE-67443E8EF086}">
      <p15:sldGuideLst xmlns:p15="http://schemas.microsoft.com/office/powerpoint/2012/main" xmlns=""/>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80028018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xmlns="" val="336986575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27055804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37966267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xmlns=""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xmlns="" val="120217922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183007393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014252063"/>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290231099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824906963"/>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pic>
        <p:nvPicPr>
          <p:cNvPr id="9" name="TitleAndEndImages"/>
          <p:cNvPicPr>
            <a:picLocks noChangeAspect="1"/>
          </p:cNvPicPr>
          <p:nvPr userDrawn="1">
            <p:custDataLst>
              <p:tags r:id="rId1"/>
            </p:custDataLst>
          </p:nvPr>
        </p:nvPicPr>
        <p:blipFill>
          <a:blip r:embed="rId4">
            <a:extLst>
              <a:ext uri="{28A0092B-C50C-407E-A947-70E740481C1C}">
                <a14:useLocalDpi xmlns:a14="http://schemas.microsoft.com/office/drawing/2010/main" xmlns=""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2"/>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xmlns="" val="366124750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695993763"/>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sp>
        <p:nvSpPr>
          <p:cNvPr id="2" name="Rectangle 1" hidden="1"/>
          <p:cNvSpPr/>
          <p:nvPr userDrawn="1">
            <p:custDataLst>
              <p:tags r:id="rId1"/>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5">
            <a:extLst>
              <a:ext uri="{28A0092B-C50C-407E-A947-70E740481C1C}">
                <a14:useLocalDpi xmlns:a14="http://schemas.microsoft.com/office/drawing/2010/main" xmlns=""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2"/>
            </p:custDataLst>
          </p:nvPr>
        </p:nvPicPr>
        <p:blipFill rotWithShape="1">
          <a:blip r:embed="rId6">
            <a:extLst>
              <a:ext uri="{28A0092B-C50C-407E-A947-70E740481C1C}">
                <a14:useLocalDpi xmlns:a14="http://schemas.microsoft.com/office/drawing/2010/main" xmlns=""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3"/>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extLst>
    <p:ext uri="{DCECCB84-F9BA-43D5-87BE-67443E8EF086}">
      <p15:sldGuideLst xmlns:p15="http://schemas.microsoft.com/office/powerpoint/2012/main" xmlns=""/>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2220698565"/>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extLst>
    <p:ext uri="{DCECCB84-F9BA-43D5-87BE-67443E8EF086}">
      <p15:sldGuideLst xmlns:p15="http://schemas.microsoft.com/office/powerpoint/2012/main" xmlns="">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xmlns=""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40434002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90075308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extLst>
    <p:ext uri="{DCECCB84-F9BA-43D5-87BE-67443E8EF086}">
      <p15:sldGuideLst xmlns:p15="http://schemas.microsoft.com/office/powerpoint/2012/main" xmlns="">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xmlns=""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281990472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580523903"/>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2522366464"/>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3482945632"/>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379392254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06045207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193016598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29057896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4232159"/>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xmlns="" val="399791618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037699224"/>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xmlns="" val="58935686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56980954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xmlns="" val="196902738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568364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xmlns=""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xmlns="" val="3984939824"/>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58507585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93619210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xmlns=""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xmlns="" val="374194137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254837553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3023909060"/>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xmlns="" val="1640827684"/>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157118530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241322118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pic>
        <p:nvPicPr>
          <p:cNvPr id="9" name="TitleAndEndImages"/>
          <p:cNvPicPr>
            <a:picLocks noChangeAspect="1"/>
          </p:cNvPicPr>
          <p:nvPr userDrawn="1">
            <p:custDataLst>
              <p:tags r:id="rId1"/>
            </p:custDataLst>
          </p:nvPr>
        </p:nvPicPr>
        <p:blipFill>
          <a:blip r:embed="rId4">
            <a:extLst>
              <a:ext uri="{28A0092B-C50C-407E-A947-70E740481C1C}">
                <a14:useLocalDpi xmlns:a14="http://schemas.microsoft.com/office/drawing/2010/main" xmlns=""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2"/>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xmlns="" val="2351621893"/>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xmlns="" val="3818754075"/>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1"/>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xmlns="">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xmlns="" val="257031406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xmlns="" val="372928598"/>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4216077176"/>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xmlns="" val="2270190941"/>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1"/>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xmlns="">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xmlns="" val="1865576705"/>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xmlns="" val="3206140772"/>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270433964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xmlns=""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xmlns="" val="1784797"/>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xmlns=""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2933657859"/>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xmlns=""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slideLayout" Target="../slideLayouts/slideLayout2.xml"/><Relationship Id="rId1" Type="http://schemas.openxmlformats.org/officeDocument/2006/relationships/tags" Target="../tags/tag64.xml"/><Relationship Id="rId5" Type="http://schemas.openxmlformats.org/officeDocument/2006/relationships/image" Target="../media/image7.png"/><Relationship Id="rId4"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a:extLst>
            <a:ext uri="{FF2B5EF4-FFF2-40B4-BE49-F238E27FC236}">
              <a16:creationId xmlns:a16="http://schemas.microsoft.com/office/drawing/2014/main" xmlns="" id="{8DB88079-4CFC-3A07-EAC6-F42F83D9F7F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xmlns="" id="{4204233E-D808-43F8-E8D2-630EBED07FDB}"/>
              </a:ext>
            </a:extLst>
          </p:cNvPr>
          <p:cNvSpPr>
            <a:spLocks noGrp="1"/>
          </p:cNvSpPr>
          <p:nvPr>
            <p:ph type="title"/>
          </p:nvPr>
        </p:nvSpPr>
        <p:spPr>
          <a:xfrm>
            <a:off x="630000" y="622800"/>
            <a:ext cx="10933200" cy="775597"/>
          </a:xfrm>
        </p:spPr>
        <p:txBody>
          <a:bodyPr anchor="t"/>
          <a:lstStyle/>
          <a:p>
            <a:r>
              <a:rPr lang="en-US" sz="2800" dirty="0" smtClean="0"/>
              <a:t>Campaign Performance Recommendation for New Customer Growth</a:t>
            </a:r>
            <a:br>
              <a:rPr lang="en-US" sz="2800" dirty="0" smtClean="0"/>
            </a:br>
            <a:endParaRPr lang="en-US" sz="2800" dirty="0"/>
          </a:p>
        </p:txBody>
      </p:sp>
      <p:sp>
        <p:nvSpPr>
          <p:cNvPr id="2" name="Rectangle 1">
            <a:extLst>
              <a:ext uri="{FF2B5EF4-FFF2-40B4-BE49-F238E27FC236}">
                <a16:creationId xmlns:a16="http://schemas.microsoft.com/office/drawing/2014/main" xmlns="" id="{477E036F-AF50-32A5-AA87-4A97F3F6A88D}"/>
              </a:ext>
            </a:extLst>
          </p:cNvPr>
          <p:cNvSpPr/>
          <p:nvPr/>
        </p:nvSpPr>
        <p:spPr>
          <a:xfrm>
            <a:off x="641670" y="5371165"/>
            <a:ext cx="10946591" cy="1099974"/>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600" b="1" dirty="0" smtClean="0">
                <a:solidFill>
                  <a:srgbClr val="000000"/>
                </a:solidFill>
              </a:rPr>
              <a:t>Recommendation:</a:t>
            </a:r>
          </a:p>
          <a:p>
            <a:r>
              <a:rPr lang="en-US" sz="1200" b="1" dirty="0" smtClean="0">
                <a:solidFill>
                  <a:srgbClr val="000000"/>
                </a:solidFill>
              </a:rPr>
              <a:t>Email </a:t>
            </a:r>
            <a:r>
              <a:rPr lang="en-US" sz="1200" b="1" dirty="0" smtClean="0">
                <a:solidFill>
                  <a:srgbClr val="000000"/>
                </a:solidFill>
              </a:rPr>
              <a:t>combined with Campaign A is the most effective strategy for attracting new customers. </a:t>
            </a:r>
            <a:r>
              <a:rPr lang="en-US" sz="1200" b="1" dirty="0" smtClean="0">
                <a:solidFill>
                  <a:srgbClr val="000000"/>
                </a:solidFill>
              </a:rPr>
              <a:t>While </a:t>
            </a:r>
            <a:r>
              <a:rPr lang="en-US" sz="1200" b="1" dirty="0" smtClean="0">
                <a:solidFill>
                  <a:srgbClr val="000000"/>
                </a:solidFill>
              </a:rPr>
              <a:t>Campaign B generated higher total revenue overall, Campaign A performed better in </a:t>
            </a:r>
            <a:r>
              <a:rPr lang="en-US" sz="1200" b="1" dirty="0" smtClean="0">
                <a:solidFill>
                  <a:srgbClr val="000000"/>
                </a:solidFill>
              </a:rPr>
              <a:t>converting </a:t>
            </a:r>
            <a:r>
              <a:rPr lang="en-US" sz="1200" b="1" dirty="0" smtClean="0">
                <a:solidFill>
                  <a:srgbClr val="000000"/>
                </a:solidFill>
              </a:rPr>
              <a:t>first-time buyers when delivered through the Email </a:t>
            </a:r>
            <a:r>
              <a:rPr lang="en-US" sz="1200" b="1" dirty="0" smtClean="0">
                <a:solidFill>
                  <a:srgbClr val="000000"/>
                </a:solidFill>
              </a:rPr>
              <a:t>channel. To </a:t>
            </a:r>
            <a:r>
              <a:rPr lang="en-US" sz="1200" b="1" dirty="0" smtClean="0">
                <a:solidFill>
                  <a:srgbClr val="000000"/>
                </a:solidFill>
              </a:rPr>
              <a:t>support the client’s goal of growing new customer sales, we recommend increasing </a:t>
            </a:r>
          </a:p>
          <a:p>
            <a:r>
              <a:rPr lang="en-US" sz="1200" b="1" dirty="0" smtClean="0">
                <a:solidFill>
                  <a:srgbClr val="000000"/>
                </a:solidFill>
              </a:rPr>
              <a:t>investment in Email + Campaign A and continuing to test variations of the message </a:t>
            </a:r>
            <a:r>
              <a:rPr lang="en-US" sz="1200" b="1" dirty="0" smtClean="0">
                <a:solidFill>
                  <a:srgbClr val="000000"/>
                </a:solidFill>
              </a:rPr>
              <a:t>to </a:t>
            </a:r>
            <a:r>
              <a:rPr lang="en-US" sz="1200" b="1" dirty="0" smtClean="0">
                <a:solidFill>
                  <a:srgbClr val="000000"/>
                </a:solidFill>
              </a:rPr>
              <a:t>further improve performance.</a:t>
            </a:r>
            <a:endParaRPr lang="en-US" sz="1200" b="1" dirty="0">
              <a:solidFill>
                <a:srgbClr val="000000"/>
              </a:solidFill>
            </a:endParaRPr>
          </a:p>
        </p:txBody>
      </p:sp>
      <p:sp>
        <p:nvSpPr>
          <p:cNvPr id="8" name="Rectangle 7">
            <a:extLst>
              <a:ext uri="{FF2B5EF4-FFF2-40B4-BE49-F238E27FC236}">
                <a16:creationId xmlns:a16="http://schemas.microsoft.com/office/drawing/2014/main" xmlns="" id="{942B0D30-68D6-1748-728E-7FA73A5976EC}"/>
              </a:ext>
            </a:extLst>
          </p:cNvPr>
          <p:cNvSpPr/>
          <p:nvPr/>
        </p:nvSpPr>
        <p:spPr>
          <a:xfrm>
            <a:off x="838228" y="1696609"/>
            <a:ext cx="2328814"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smtClean="0">
                <a:solidFill>
                  <a:srgbClr val="21BF61"/>
                </a:solidFill>
              </a:rPr>
              <a:t>Email Generated the Highest Overall Revenue</a:t>
            </a:r>
          </a:p>
          <a:p>
            <a:pPr algn="ctr"/>
            <a:endParaRPr lang="en-US" sz="1200" b="1" dirty="0">
              <a:solidFill>
                <a:srgbClr val="21BF61"/>
              </a:solidFill>
            </a:endParaRPr>
          </a:p>
        </p:txBody>
      </p:sp>
      <p:sp>
        <p:nvSpPr>
          <p:cNvPr id="18" name="Rectangle 17" hidden="1">
            <a:extLst>
              <a:ext uri="{FF2B5EF4-FFF2-40B4-BE49-F238E27FC236}">
                <a16:creationId xmlns:a16="http://schemas.microsoft.com/office/drawing/2014/main" xmlns="" id="{F3373025-70F2-206E-C2A9-CF622E9D0E06}"/>
              </a:ext>
            </a:extLst>
          </p:cNvPr>
          <p:cNvSpPr/>
          <p:nvPr>
            <p:custDataLst>
              <p:tags r:id="rId1"/>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sp>
        <p:nvSpPr>
          <p:cNvPr id="50" name="Rectangle 49">
            <a:extLst>
              <a:ext uri="{FF2B5EF4-FFF2-40B4-BE49-F238E27FC236}">
                <a16:creationId xmlns:a16="http://schemas.microsoft.com/office/drawing/2014/main" xmlns="" id="{E9B0969E-E6A1-262E-0D0C-27C4EB66645E}"/>
              </a:ext>
            </a:extLst>
          </p:cNvPr>
          <p:cNvSpPr/>
          <p:nvPr/>
        </p:nvSpPr>
        <p:spPr>
          <a:xfrm>
            <a:off x="695959" y="212497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1" name="Rectangle 50">
            <a:extLst>
              <a:ext uri="{FF2B5EF4-FFF2-40B4-BE49-F238E27FC236}">
                <a16:creationId xmlns:a16="http://schemas.microsoft.com/office/drawing/2014/main" xmlns="" id="{BF4368DF-6E20-14F0-6E67-1E1CD9E7A1F1}"/>
              </a:ext>
            </a:extLst>
          </p:cNvPr>
          <p:cNvSpPr/>
          <p:nvPr/>
        </p:nvSpPr>
        <p:spPr>
          <a:xfrm>
            <a:off x="4152757" y="2163569"/>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2" name="Rectangle 51">
            <a:extLst>
              <a:ext uri="{FF2B5EF4-FFF2-40B4-BE49-F238E27FC236}">
                <a16:creationId xmlns:a16="http://schemas.microsoft.com/office/drawing/2014/main" xmlns="" id="{E2B2A643-298F-D571-396A-2AD97701D1C3}"/>
              </a:ext>
            </a:extLst>
          </p:cNvPr>
          <p:cNvSpPr/>
          <p:nvPr/>
        </p:nvSpPr>
        <p:spPr>
          <a:xfrm>
            <a:off x="7476125" y="2155067"/>
            <a:ext cx="2765417" cy="2541209"/>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en-US" sz="1200" dirty="0">
              <a:solidFill>
                <a:srgbClr val="000000"/>
              </a:solidFill>
            </a:endParaRPr>
          </a:p>
        </p:txBody>
      </p:sp>
      <p:sp>
        <p:nvSpPr>
          <p:cNvPr id="53" name="Rectangle 52">
            <a:extLst>
              <a:ext uri="{FF2B5EF4-FFF2-40B4-BE49-F238E27FC236}">
                <a16:creationId xmlns:a16="http://schemas.microsoft.com/office/drawing/2014/main" xmlns="" id="{B52E5477-8A78-817E-6DEC-CF5CD1757B04}"/>
              </a:ext>
            </a:extLst>
          </p:cNvPr>
          <p:cNvSpPr/>
          <p:nvPr/>
        </p:nvSpPr>
        <p:spPr>
          <a:xfrm>
            <a:off x="4306799" y="1719502"/>
            <a:ext cx="2328814"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smtClean="0">
                <a:solidFill>
                  <a:srgbClr val="21BF61"/>
                </a:solidFill>
              </a:rPr>
              <a:t>Campaign B Generated the Highest Total Sales</a:t>
            </a:r>
          </a:p>
          <a:p>
            <a:pPr algn="ctr"/>
            <a:endParaRPr lang="en-US" sz="1200" b="1" dirty="0">
              <a:solidFill>
                <a:srgbClr val="21BF61"/>
              </a:solidFill>
            </a:endParaRPr>
          </a:p>
        </p:txBody>
      </p:sp>
      <p:sp>
        <p:nvSpPr>
          <p:cNvPr id="54" name="Rectangle 53">
            <a:extLst>
              <a:ext uri="{FF2B5EF4-FFF2-40B4-BE49-F238E27FC236}">
                <a16:creationId xmlns:a16="http://schemas.microsoft.com/office/drawing/2014/main" xmlns="" id="{AC2F7AF7-DC76-6C1A-0458-2264EDF24BF9}"/>
              </a:ext>
            </a:extLst>
          </p:cNvPr>
          <p:cNvSpPr/>
          <p:nvPr/>
        </p:nvSpPr>
        <p:spPr>
          <a:xfrm>
            <a:off x="7622972" y="1715577"/>
            <a:ext cx="2328814" cy="646331"/>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200" b="1" dirty="0" smtClean="0">
                <a:solidFill>
                  <a:srgbClr val="21BF61"/>
                </a:solidFill>
              </a:rPr>
              <a:t>Email + Campaign A Drives New Customer Growth</a:t>
            </a:r>
          </a:p>
          <a:p>
            <a:pPr algn="ctr"/>
            <a:endParaRPr lang="en-US" sz="1200" b="1" dirty="0">
              <a:solidFill>
                <a:srgbClr val="21BF61"/>
              </a:solidFill>
            </a:endParaRPr>
          </a:p>
        </p:txBody>
      </p:sp>
      <p:sp>
        <p:nvSpPr>
          <p:cNvPr id="5" name="Rectangle 4">
            <a:extLst>
              <a:ext uri="{FF2B5EF4-FFF2-40B4-BE49-F238E27FC236}">
                <a16:creationId xmlns:a16="http://schemas.microsoft.com/office/drawing/2014/main" xmlns="" id="{DA3175F1-F880-FD13-5347-0D98BDB0DD10}"/>
              </a:ext>
            </a:extLst>
          </p:cNvPr>
          <p:cNvSpPr/>
          <p:nvPr/>
        </p:nvSpPr>
        <p:spPr>
          <a:xfrm>
            <a:off x="11804073" y="3685308"/>
            <a:ext cx="290946" cy="2951018"/>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sp>
        <p:nvSpPr>
          <p:cNvPr id="6" name="Rectangle 5">
            <a:extLst>
              <a:ext uri="{FF2B5EF4-FFF2-40B4-BE49-F238E27FC236}">
                <a16:creationId xmlns:a16="http://schemas.microsoft.com/office/drawing/2014/main" xmlns="" id="{481B1DE6-2CDC-940C-8490-377786C3D307}"/>
              </a:ext>
            </a:extLst>
          </p:cNvPr>
          <p:cNvSpPr/>
          <p:nvPr/>
        </p:nvSpPr>
        <p:spPr>
          <a:xfrm>
            <a:off x="11429699" y="6425644"/>
            <a:ext cx="159327" cy="238839"/>
          </a:xfrm>
          <a:prstGeom prst="rect">
            <a:avLst/>
          </a:prstGeom>
          <a:solidFill>
            <a:schemeClr val="bg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dirty="0">
              <a:solidFill>
                <a:srgbClr val="FFFFFF"/>
              </a:solidFill>
            </a:endParaRPr>
          </a:p>
        </p:txBody>
      </p:sp>
      <p:graphicFrame>
        <p:nvGraphicFramePr>
          <p:cNvPr id="13" name="Chart 12">
            <a:extLst>
              <a:ext uri="{FF2B5EF4-FFF2-40B4-BE49-F238E27FC236}">
                <a16:creationId xmlns:a16="http://schemas.microsoft.com/office/drawing/2014/main" xmlns:lc="http://schemas.openxmlformats.org/drawingml/2006/lockedCanvas" xmlns="" id="{CD286BAC-B145-A3DC-BEE0-F36AC84A907F}"/>
              </a:ext>
            </a:extLst>
          </p:cNvPr>
          <p:cNvGraphicFramePr>
            <a:graphicFrameLocks/>
          </p:cNvGraphicFramePr>
          <p:nvPr/>
        </p:nvGraphicFramePr>
        <p:xfrm>
          <a:off x="756138" y="2145323"/>
          <a:ext cx="2813538" cy="255856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Chart 13">
            <a:extLst>
              <a:ext uri="{FF2B5EF4-FFF2-40B4-BE49-F238E27FC236}">
                <a16:creationId xmlns:a16="http://schemas.microsoft.com/office/drawing/2014/main" xmlns:lc="http://schemas.openxmlformats.org/drawingml/2006/lockedCanvas" xmlns="" id="{2B948144-3DE1-F2E4-A183-66BB88BD0B42}"/>
              </a:ext>
            </a:extLst>
          </p:cNvPr>
          <p:cNvGraphicFramePr>
            <a:graphicFrameLocks/>
          </p:cNvGraphicFramePr>
          <p:nvPr/>
        </p:nvGraphicFramePr>
        <p:xfrm>
          <a:off x="4193930" y="2057400"/>
          <a:ext cx="2699237" cy="2699238"/>
        </p:xfrm>
        <a:graphic>
          <a:graphicData uri="http://schemas.openxmlformats.org/drawingml/2006/chart">
            <c:chart xmlns:c="http://schemas.openxmlformats.org/drawingml/2006/chart" xmlns:r="http://schemas.openxmlformats.org/officeDocument/2006/relationships" r:id="rId4"/>
          </a:graphicData>
        </a:graphic>
      </p:graphicFrame>
      <p:sp>
        <p:nvSpPr>
          <p:cNvPr id="2050" name="AutoShape 2" descr="data:image/png;base64,iVBORw0KGgoAAAANSUhEUgAABLAAAALmCAYAAABSJm0fAAAQAElEQVR4AezdB5wkZZ038KfJsCiLIkgQVgQDB4oigkgS4QyYBZZ7z6wIehy3qKfIIWJCREERuEMwAAYUFEUQ0UWCriTBA+QwgMrCwioiYSXHd3+FPfTMzuxO6J7prv7y2equrnrqqef5PtVF13+eemqpR/xHgAABAgQIECBAgAABAgQI1F1A/Qj0tMBSxX8ECBAgQIAAAQIECBAgMAoBSQgQIEBgqgQEsKZK3n4JECBAgAABAv0ooM4ECBAgQIAAgXEICGCNA80mBAgQIEBgKgXsmwABAgQIECBAgEC/CQhg9VuLqy8BAhEwESBAgAABAgQIECBAgEAPCQhg9VBjdVdRlYYAAQIECBAgQIAAAQIECBCov0B31FAAqzvaQSkIECBAgAABAgQIECBAoK4C6kWAwIQFBLAmTCgDAgQIECBAgAABAgQ6LSB/AgQIEOhvAQGs/m5/tSdAgAABAgT6R0BNCRAgQIAAAQI9KyCA1bNNp+AECBAgMPkC9kiAAAECBAgQIECAwFQICGBNhbp9EuhnAXUnQIAAAQIECBAgQIAAAQJjFBDAGiNYNyRXBgIECBAgQIAAAQIECBAgQKD+Amr4mIAA1mMW5ggQIECAAAECBAgQIECgXgJqQ4BATQQEsGrSkKpBgAABAgQIECBAoDMCciVAgAABAlMvIIA19W2gBAQIECBAgEDdBdSPAAECBAgQIEBgQgICWBPiszEBAgQITJaA/RAgQIAAAQIECBAg0L8CAlj92/Zq3n8CakyAAAECBAgQIECAAAECBHpSQABrTM0mMQECBAgQIECAAAECBAgQIFB/ATXsNgEBrG5rEeUhQIAAAQIECBAgQIBAHQTUgQABAm0UEMBqI6asCBAgQIAAAQIECLRTQF4ECBAgQIDAowICWI86eCVAgAABAgTqKaBWBAgQIECAAAECNRAQwKpBI6oCAQIEOisgdwIECBAgQIAAAQIECEytgADW1Prbe78IqCcBAgQIECBAgAABAgQIECAwboGeCWCNu4Y2JECAAAECBAgQIECAAAECBHpGQEEJDCcggDWcimUECBAgQIAAAQIECBDoXQElJ0CAQO0EBLBq16QqRIAAAQIECBAgMHEBORAgQIAAAQLdJCCA1U2toSwECBAgQKBOAupCgAABAgQIECBAoE0CAlhtgpQNAQIEOiEgTwIECBAgQIAAAQIECBAoRQDLUVB3AfUjQIAAAQIECBAgQIAAAQIEelxgFAGsHq+h4hMgQIAAAQIECBAgQIAAAQKjEJCEQPcKCGB1b9soGQECBAgQIECAAAECvSagvAQIECDQEQEBrI6wypQAAQIECBAgQGC8ArYjQIAAAQIECAwVEMAaKuIzAQIECBDofQE1IECAAAECBAgQIFArAQGsWjWnyhAg0D4BOREgQIAAAQIECBAgQIBAtwgIYHVLS9SxHOpEgAABAgQIECBAgAABAgQI1F9gEmoogDUJyHZBgAABAgQIECBAgAABAgQWJ2AdAQKLFxDAWryPtQQIECBAgAABAgQI9IaAUhIgQIBAjQUEsGrcuKpGgAABAgQIEBibgNQECBAgQIAAge4UEMDqznZRKgIECBDoVQHlJkCAAAECBAgQIECg7QICWG0nlSEBAhMVsD0BAgQIECBAgAABAgQIEGgVEMBq1ajPvJoQIECAAAECBAgQIECAAAEC9RfomxoKYPVNU9erovfee2/52c9+Vg466KBywgkn1KtyNa6Ndpu8xv3b3/5WTjnllHLAAQeU//3f/528HdsTAQIECBAgQKDnBBSYAIFeEKhNAOvaa68tRx11VLn77ru7wj0XjB/4wAfKWKcPfehD5eMf/3hVl/POO6/kIrQrKtQlhYhHLspjdMYZZ3S8vRNwueSSS8pXv/rV8olPfKLst99+A2364Q9/uBx++OHlggsuGFSORx55pHz7298uN954Y5eoTX0x2tlut99+e9UWY/1uLSl9HQKhDz74YBWsOuyww8qhhx5afvnLX5b7779/6g8AJSBAgACB+guoIQECBAgQ6LBALQJYDz30ULnwwgvLvHnzyh/+8IcOk40u++c+97nVBeTHPvaxsv3225ell1560IZrr712ec1rXlPe+973lv3337+a9txzz7LddtuVFVdcsdxwww3lzDPPrPL43Oc+V+bPnz9o+378cP7555ejjz66XHXVVeWBBx7oKME999xTvvWtb5WPfvSj5Tvf+U753e9+V7XLC1/4wrLrrrtW00477VRWXXXV8uMf/7iknY8//vjqGLztttuq4JXAwaNN1Ml2W2qppcpqq61WNt544/LsZz97YNpggw1K1j1aglJWWWWVgXXNdE972tPK8ssv30zS8+8PP/xwSVD3yiuvrOqeQGrPV0oFCPSZgOoSIECAAAECBAiMLLDUyKt6Z81NN91U0gMrF3DpcZCAVreUfoUVVigJdKy77rqDirTtttuWF73oReXJT35ymT59ejXlgvplL3tZed/73lfe8pa3lMc//vElF6EJXqV32aWXXjooj377kODegQceWN7//veX1VdfvSPVj3cCZJ/+9KfLr371q8r/ec97XnUbVtolQcfNN9+8ZEobvu1tbysHHXRQefOb31xyHH7hC18ohxxySLn55psH9crqSGF7JNN2t9sdd9xR9SpK4GrfffetesTF/41vfGNpTvnOLbvssgNC66yzzsC6ZpoEjBOgfOUrX1kFmP/+97+X++67b2CbXptJwO61r31tde7413/91zJt2rReq0I7yisPAgQIECBAgAABAgRqKlCLAFZu10uPmbTR3Llzq0BC5rtlyoV0AlWjLU+j0SgbbbRR2WOPPaoePtkuPY5OP/30rulhljJN1fS4xz2uPOlJT2r77hO8Ouecc8o3vvGNKviUnnBvetObyu67715WXnnlEffXaDzaXulNl3ZLwgRTe7MHVkrfmald7Rbb5ZZbruoFt8Yaa0yosAn6bLPNNiVT8s0xMKEMF7PxRRddVM4666zFpGjfqlhPXxgYb1+OciJAgAABAgQIECBAgMDUCvR8ACu9Ma6++uoBxQSyLrvssqrnzMDCyZwZYV8rrLDCCGtGXpyL8/ReaTQaVaLULbdjdVMPs6pgNXhJ4CLBq7PPPrvEN8Gr9Or5p3/6p1HXLm282267lWZvuxybo95YwjEJxDjTmDYaIXGj0SjPec5zykorrTRCiokvTjBzMs9LjUajNBqNiRdcDgQIECBAgAABAgQIjCxgzaQK9HwA6ze/+U3JmEOtar/+9a/LX//619ZFPTv/rGc9q7qVsFmB66+/vvz5z39ufvTeJoE//vGP5bzzzquCV41Go2Ssq/XXX3/MuScIktu48p6A45gzsMESBfKghvRoHDqu3BI3XEyCJzzhCVUvuwQvF5Ns3Kt+//vfV+OjjTsDGxIgQIAAAQIEaiqgWgQIEBitQE8HsJpPiMvtXc985jMH6pyxbBLEGljQwzPpCZTbgZpVSE+OO++8s/nRexsE4vn9739/YPyjjK+19dZbj7sHSwbo33TTTcstt9zShtLJYqhAesX98z//89DFE/qc79nuu+/ekXGjEnD76U9/WgVHJ1RIGxMgQIAAgeEFLCVAgAABAn0h0NMBrGuuuaYa7ypPHNtxxx2rp8Q1W+2KK66oxjFqfu7V99zalqlXy98L5b744ovLX/7yl4GiJviUoOjAgjHONBqNstlmm9XqCXdjJJD8HwIPPvhgOfXUU6unUv5jkTcCBLpSQKEIECBAgAABAgS6XaBnA1i51SdPHMxtRHkiXHq9rLfeegPeeQrcH/7wh4HPvTqTXjy33nrrQPGXX375gYHdBxaaGbdAxqnKcdTMILf+tfbmay4f6/tTnvKUkvGwxrqd9PURSG/Jb3/726UuvUGX2DISECBAgAABAgQIECBAoIMCPRvAuummm0qeOLjWWmtVg2Y3A1l5qli88kSxBCYS6MrnXpzS8yoDP7eOpZTAyBOf+MS2VGf+/PnVE/c+9rGPlQ9+8IPlAx/4QPWez3kSX9YvbkfpXZInQB522GHlk5/8ZLn99tur5Cn3b3/72/K5z32u7LffftWU+YwDVCUYxUtuD50zZ0459NBDy4c+9KGqbP/1X/9VjjnmmLaOJTR0DLXVVlutZBpFESeUpFm/gw8+uHzhC18o+Ry3PJDgkEMOqdohZsO1QZalfdJO/dpuE8If5cZpj3nz5pUTTzyxfOQjH6mOwXxHPvzhD5ejjz66XH755SXnmeGyy5hqadf0BE0+zTTnnnvuQD7J64QTTmiuGnhP4OvCCy8shx9+eMkxn3SZMp9lWZc0AxuYIUCAAAECBAgQIECAQB8I9GwAK4GTXPTnVq08Ur+UUp72tKeVjF/UbLcEuBLoan7upfdc9P7iF78oub2tWe5VV121vOpVryoJ1jWXjec9gaczzjijHHHEESUBk+c+97nl/e9/f3nve99bttpqq2osqFx45wI8QcDWfaRcCaCkZ8lBBx1UTjrppOr2uyxPurTJ1772tfLVr361JF0u8DNlPsuG5pdthk4JKn32s58tKWPac6+99ir/+Z//WXbaaadqXKkED6699tqhm435c8qcoFremxsneJVebs3P7XzPfhIQSdDiox/9aPnBD34wKOiX9o5detwlbcwyNtcDDzxQFUO7VQyT8pJg7HHHHVeOOuqokgDyG9/4xrL//vuXN73pTSVPB83DFL75zW9WQdq009BCpf3yBNHXvva1g3pM5qEMu+66a2lOGWutddsbb7yxClx973vfK8kjT8Js7jcDzecBDll37LHH1uIW6da6mydAgAABAgQIECAwBgFJ+1CgJwNYf/vb38pVV11VXRjmgrDZbrn9K+NhNT/nwjOBrubnbnrPwM4J9rSWKYGeXDinzAnSnH766QMDP+fiNRezT3rSk1o3Gdd8BpT++c9/Xl0g77zzzlVQLPnmyW6vec1ryqtf/eqSnmzpvXbWWWeV3I7Z3FECgj/5yU+qINeyyy7bXFy9p05f+tKXSnqfvOAFL6gu0vPeDAglv/RAyW171QbDvFx66aXl61//ernrrrvK6173uvKWt7yl5NbQlG/77bcvs2bNKul1d9999w2z9dgWxX/oEyxXWWWVsWUyhtRxOeeccyr3ZZZZZtCWWXf++eeX1LXVNcGruCWxdotC56c8wfR//ud/Sm5BzjH3rne9q2y44YZl+vTpZZNNNinvec97SoJTjUajCt5+8YtfrI751pIlmJ5bm5/3vOcNGhg+37Esb05J19wugctmADNBsj333LM84xnPGNjvu9/97pJbpZM+AbSzzz47syYCBAgQIECAwDgFbEaAAIHeEujJAFZu3UmgZ6ONNipDAw7pTZQnijWbIT2MFhcwaaab7PfTTjutHHjggYNuJ8rtdrmlLL2acoGaHhgJyiWglN5RzYvXiZR1wYIFJX7JOz3X1lxzzUWyS1Awvb2yVTc7EAAAEABJREFUIk90TK+QzGdKGRJUSjAtF/FZlikBpQSe1l9//aqnyhve8IaSi/RddtmlpPdKMyiT4ON1112XTRaZsjxBuwRtttlmm5LgV6PRGJQug6vnCXTN/AatHOOHlDn1a92s9dhpXT7S/I9+9KNBbZhbvYab0pstdnF761vfWhLYaOaZYF2CgnkKXnqb7b333iXtMm3atCpQssIKKxTt1tTq7HuCmuldmMDmuuuuW3bYYYdFnkaZ4G6OwTwNMaVJ4Pbkk08uCUDl83inK6+8ciCP9ATMsd6aV84Fz3nOcwYW5fuS8g4sMEOAAAECky9gjwQIECBAgMCkCfRcACsXi7m9LYGGBKuGSqV3TnqxNJfnQjS3pDU/d8t7elYkyNO8lSjvuVhOj4zW4EzqO3v27JLAzp133jnh4qeXVwJEi8soga34NtOMdJHcGjzM7W0vfvGLyyte8YqS7Zvb5j2BgNwKmPkEztKLK/OtU8b0SW+v9Jp73OMeV57//OcvEjhopn/qU59a9cJqfh7vewJHKXfr9kODBq3rhpt/+ctfXjJm1b777jvQO6Y1XYKBCVTus88+JYGo5rrW+QRjt9hii+oW2KxP8Cr5ZdylZsBCu0Wm89NFF11UbrjhhmpHCTIOPZarFQtf0oMux3vze5LgVb6nOb4Xrh7Xvxz7S9qw9TuX73Gzd96StrOeQDcLKBsBAgQIECBAgACB0Qj0XAArt/XklrYEqRKsGlrJjA+Vnj/pJZF1uaDMQOgJkORzt0y5OE7QImVtTi972ctKbhv6+Mc/XtJTZ/r06VVxc2GbsbA+/elPV72nqoXjfElwKD1H4pMeQblVaUlZJcCypDTpLZTbrIZLl4v8Zl2yPsGYvLdOv/vd70p6lGRZbrNa3ED1CSqMNdCUfIdOCRQ2GoN7eOX2saHplvQ5lgk6padc83bJbBOT3KI5XFlbPRLcawaqst1wk3YbTqW9yxIs/tWvflXd4pkA43Dnl9Y9Zn3OQ81lGU9tPMdPc/uNN964ul0wx3fmm8tHes95IUGsUspISSwnQIAAAQIECBAgQIBAbQR6KoCV3gbNQcAT9EmwariWSC+mBAWa6zJwdi4um5+7/T0BkVzAZrynpz/96QPFzS1vGcA5QbyBhWOciVnGlkqvodyultuSmlmkN1LG38r4P8P1kmqmm+j7LbfcMiiLBBmz32Zga5111pnwQPWDdjDChwQK4lHKYwlG6m32WIqR53LbZWsAK4GrBLGG2yIBkubyBNKGlqO5rvme9dqtqdGZ9z/96U8D473l2Gjt7TTcHtMm6WHXXJcekjnXND+P9f0pT3lKdfvtJz7xiZKHU7Run1tvTznllJJB/VuXmydAgAABAgQIECBAgEC/CLQngDVJWgmqzJ07t3rSYIJUI+02QZnWHi0JfF1yySUDA6KPtF23LU89Xv/615cM4N4sW3pd/PCHPywTCbQ082q+p4dVLo7zVMGMzZVb9DIGT3N9p98zDlXrk9zSY6vT+0z+CTalZ1Pmm1OCazlemp8n8j6awNRE8u/XdpuI2eK2zVhvzSDq4tK1rksPxgS7siyB2L/85S+ZbcuUsmS8usMOO6x85jOfKendtemmm7Ylb5kQIECAAAECBAgQGLeADQlMkUDPBLBycThnzpySAM6f//znkmDLcINlN5f9+Mc/HkSawFcCYIMW9sCHBK/S26y1qKl/6tO6bDzz6dXx5S9/uRrDKT1HcttixmvKrYzNi/Lx5DvWbTJOWcajam6XnkvN+U6+J1CWAETrPmKSnjSty7ptPmXs53brVHu0BlFHu48cqwlUNtPn9ubm/HjfE7jKWFwf+9jHyne+853qSYQHHHBA9fTDGTNmjDdb2xEgQIAAAQJdJKAoBAgQIDB2gZ4JYKX3wbXXXlse//jHl4w1lEHPlzS19tJK4Cu3qY2daOq3SI+o1oBSbvWbSAArF8hnn312Ofzww6txp3bbbbfSvF0xty9Odo1TngQom/tNWzfnO/3eHA+suZ/0asoTIJufu+k9Ttptclok37HWoOpIe833MrcSNtfn/NScH897jv0jjjiinHrqqdVDAfbbb7/yyle+siRQNp78bEOAAIEaC6gaAQIECBAg0GcCPRPA+vWvf11yq9mzn/3ssvXWW5f0SlrS9JKXvKS09o64+uqryx133NFzTZxeWK1jJqUC473NLdudeeaZJU9MS7DqrW99a8mA8o3G4MHMs4+pmiazjRLkbB0vLUGijLMWp6mq/3D7TXm023Ay7VvWGnzKLboJZo4194yDNtZtmunTs/K4444r6QmWMfDe9ra3CVw1cbx3SEC2BAgQIECAAAECBHpHoCcCWHk62BVXXFFdzOXJfaPlXXfddUsGRm6mz61qv/nNb5ofe+Y9T1BMAKO1wK1PsWtdvqT51P8Xv/hF9aS1+MyYMWNJm3R8fQbLTk+W5o5yq2favPm5k+8ZZ2z77bcfNGh8BvPutl5Y2q2TR8GjebeeKxLIHM0xcP/99w+MrZcx1dZbb71HMxvja77j3//+90uCZssss0zJeS7vY8xGcgIECBAgQIAAAQIECNRWoCcCWHnqXsaW2XDDDasB3EfbGgmKvOhFLyrpaZRtcpvaZZddVnKxmM+9MmVg6NwC2SxvLpSf/OQnNz+O6T23UTaDYZP1tL/FFTDrMpB666DxGePphhtuyKpJmdKrL7cSNnd23333lYyh1k3HiXZrtk7n3hPQzbHY3EOChksKpGa8tAceeKDaJN/Jtddeu5of60t6XSVwm+0SVB06NluWmwgQIECAAAECBAgQINDLAhMte9cHsBJE+NnPflYStMmtg43G2G51G3qLWC4S08NmonCTtX3G4skTFNMjpLnP9Jpq7S3SXD6a99Z8cstSgnpDt8uyTEOXd+pzbvN81rOeVRqNR9s2AYHc4rik4EG7ypOeLnnaYwIYzTxzjJxzzjlVT7Xmsql8126d13/Sk55UNtlkk4EdJWie4PnAgmFm0ksr56gEydNrKkHzYZItcVHat/mdy+2Lt95667DbNIPPw660kAABAgQIECBAoO4C6kegrwW6PoD1+9//vuQJeendkGmsrZXeDAmONLdLcCRPM0xgqLms9T0XjhlE+YMf/GDJkw7T86V5YdmabqzzuSgd6zbZbwbtjkFz2zw5L2N7JejSXDaW91xoN9P/8Y9/LJman/Oe3k8nnnhiufHGG/OxmnJxnZkMMJ0ebJlv9/T85z9/UO+6BAa+8Y1vlPRwGbqv9EhLILK5PGNmjce3uX3ec5y88Y1vLM0gVuzPO++8qidWs/5J165prIEI7dYu+ZHzaTQaZdttty0Zcy6p0u4/+clPhj0Gsz7H3JVXXpnZkqByevJVH1peEnhv7dWVnlbNtk+ANsd4jt+0b6PxaAA3AbGh56iU5cILLyynnXbaQO45RrM87xdffPFix/fLPgY2NEOAAAECBPpaQOUJECBAoFcFujqAleBFbuXKBV8CDOmpMx7ooYGvPM0wgamheWU/GYcmwZtcFOYC8+STTy7DpR267eI+54K0NeCyuLTNdan7SSedVM4999yBXkCp/6te9arqYrmZbqzvuQ2z0Xj0Qjm3yn3lK18p3/rWt0oujr/85S+Xww47rCRI1norVMYfy4X8CSecUKZPnz6wy1zANz/ELvVsfm59j2UutJvLki7pm5/znqesvfa1r632nc+ZrrnmmvLZz362/PSnPy0JnqXHWC7gjz766JK2SZpMaa/UI+W74IILsmhcU+r2rne9q7zgBS+objtNmdML64tf/GI1sPbiMk3aBBpj2kyXIGOj8ah1c1nzPUG45nzGZluwYEHz47Dv2m1YlhEX5lhpbYuMLdV6G+5IGyZ4laeb5juQNGmnfA/zfczn5pRj+PTTT68CvbndL0/yHK73VaPRGPSdyTHyzW9+s6RX6X//93+X3DqbMeDS+yvHXzP/q666qnz+85+v0v3whz8shxxySPU9eO5zn1sdm0mXMuV7+bWvfa3knDZt2rQsrqbUNQ+9qD4sfBnNExUXJvOPAAECoxOQigABAgQIECAwBQJdGcBK76j0wElQIheQcUlPofQyaA1cZPnipgQV0uMhF4ut6RI8SaAqT3VrvcjLfofmn7TZb3puteYx2vkEedKLKr3IWrf50Y9+VNLT6ayzzip56l1zSoAmQaRPfOIT5fLLLx8IXuUi+d3vfndJT6XWfMY6v+mmm5bWgaZTr1/96lfle9/7XrnuuuvKa17zmvKmN72pZH/NvHPxf/7555cMdp5bMrM8t1cl6JX5TLlATq+R1Defm1PaIAGwtF9zWSxygZ51zWV5T95vf/vbB13wpz0SxPzMZz5TDj/88CqYuPvuu5cNNtggm1RTo/FokOjFL35xeeELX1gtG+9LghC77LJL+Y//+I9qH+kZk9sJE0xIMC0BrYzPFZME1dIjLb1oPvrRj5bvfOc71fhqsft//+//lb322qu69bW1LKlzLGLSXB67+OdYT7Cvubz1Xbu1aow83/RN4Lc1VQLIOY5yPLUuH24+x2ECmQlmZX0CqYceemj57ne/W31XE1DKsXDppZeWpz/96WXPPfcc6LWV9EOnBJ2aAbGUL09UPeOMM0oC6+lNmfQJ0Of4TZA6nzPlO5Z0+e498YlPLHvvvXc1uPsKK6yQ1dW5Id/dBLJe97rXlQRMsyLnsQRyW4OiOU5/97vflew/aUxTL6AEBAgQIECAAAECBAiMTaArA1gJCBx11FHVrYPN6qRHQS4gDzrooJKeNs3lI70nwHDwwQeXz33uc1UviaHpErjJLWIf//jHS4JJWZ/bfbbZZpuSi8lcSD7nOc+pekikh8xoLnyTR3NKr60PfOAD5cADDyzZTwJhzXV5T/kSxElA5JRTTinNKU8ITGAkZcgFbgah33fffct73/vekkHXs+1Eplz8vvOd7yw77LDDQG+n1DVj/8yaNau6QG40GiUX1quvvnrV2yO9sZrBs5Q7wbVcwKeXS2tZLrrooqq+X/jCF0oCWXHdb7/9SnqctPaGSVumjbMuTq15JLj2/ve/v7zsZS+r7BNAyvr0LskYQ7m1c6ONNsqiqp1SjwMOOKC85z3vqW7/azQeDWZVCSbwsuaaa5YEMXK8/cu//EvJ7WE5ZhIYOfLII0uOrQTVTj311DJ37twyY8aMkh5k+++/f3nf+95XNt1008qutQgJhH3kIx8pxxxzTIlj67qMtZTA5Sc/+clF1iWddovCoGnQhxxvOe5yTA3nm8Bggjppz3wvhx53gzJb+CHHfI7DtH2OyXx/E8hOkDLBoCz793//95KAa3oPLtxkxH8zFh4bb3vb26qgcKPRqI7bl770pSWB2GbQKRsn0JXvWfad477RaJRVV121JKC6xx57lOnTp5e11lqrbLXVVmXppZeuvr85/vN9zvkieeQ7l2MwQa/UOcsyJciVHpbxWVLdk95EgAABAlod3KAAABAASURBVAQIECBAgACBbhPoygDWW97ylpIeDyNNWb8kyFzsJbAxUh6ty1/+8pcPZJegVS5yE0j413/91+qiMxeLjcbYAiO5GG3dx1jmc7tQAl8JWqVHVIIpjcbY9j9QoWFm0svoZS97WUmvoZQrdU2vq/TyaCbPLU25gE9Z0hupGTwbjes+++xTEnCJa/Jf3BSn5j6b7ylfLswTaMj+s30CP294wxuqi/akyzGQdkqga0kBhKQf75R6pIw5Fj70oQ+VBDxTnuYUuwQMEqBIYCG3g420r6c+9amLbN/Mp/meYzbGw+URl9RXuy2qk3bKcdd0XNJ72nTRXAYvSXAp6f7t3/6tpJ2T56c//ekqSJvjId+JRmN038sEsRLYzPY5bhMgTv6D91iqIHW+bznukzbHXPOW1qRtNBrln//5n8unPvWp6vub4yHHRdZlGu93LtuaCBAgQIAAAQIECBCoq0A96tWVAaxuoU2vjgx+nGBOegB1S7mUgwABAgQIECBAgAABAgQmUcCuCBCYcgEBrMU0wdVXX13yVL7cxpdeWItJahUBAgQIECBAgAABAosRsIoAAQIECExEQABrBL082S4DrGdQ8AzUPEIyiwkQIECAAAECkyVgPwQIECBAgACBvhUQwBrS9Pfff3/JUwuPP/74aiDzDLbcaIxunJshWflIgAABAl0noEAECBAgQIAAAQIECPSigABWS6vlSXl5Ol6eOJgB1PPUu0ZD8KqFyCyBUhgQIECAAAECBAgQIECAAIFJFhDAagFffvnlS54mlyd7rbjiii1r2jsrNwIECBAgQIAAAQIECBAgQKD+AmrYPgEBrPZZyokAAQIECBAgQIAAAQIE2isgNwIECFQCAlgVgxcCBAgQIECAAAECdRVQLwIECBAg0PsCAli934ZqQIAAAQIECHRaQP4ECBAgQIAAAQJTKiCANaX8dk6AAIH+EVBTAgQIECBAgAABAgQIjFdAAGu8crYjMPkC9kiAAAECBAgQIECAAAECBPpSoM8CWH3ZxipNgAABAgQIECBAgAABAgT6TEB16yYggFW3FlUfAgQIECBAgAABAgQItENAHgQIEOgiAQGsLmoMRSFAgAABAgQIEKiXgNoQIECAAAEC7REQwGqPo1wIECBAgACBzgjIlQABAgQIECBAgEARwHIQECBAoPYCKkiAAAECBAgQIECAAIHeFhDA6u32U/rJErAfAgQIECBAgAABAgQIECBAYMoEJi2ANWU1tGMCBAgQIECAAAECBAgQIEBg0gTsiEAnBASwOqEqTwIECBAgQIAAAQIECIxfwJYECBAgMERAAGsIiI8ECBAgQIAAAQJ1EFAHAgQIECBAoE4CAlh1ak11IUCAAAEC7RSQFwECBAgQIECAAIEuERDA6pKGUAwCBOopoFYECBAgQIAAAQIECBAgMHEBAayJG8qhswJyJ0CAAAECBAgQIECAAAECBOovsNgaCmAtlsdKAgQIECBAgAABAgQIECDQKwLKSaC+AgJY9W1bNSNAgAABAgQIECBAYKwC0hMgQIBAVwoIYHVlsygUAQIECBAgQKB3BZScAAECBAgQINBuAQGsdovKjwABAgQITFxADgQIECBAgAABAgQItAgIYLVgmCVAoE4C6kKAAAECBAgQIECAAAECdREQwKpLS3aiHvIkQIAAAQIECBAgQIAAAQIE6i/QAzUUwOqBRlJEAgQIECBAgAABAgQIEOhuAaUjQKCzAgJYnfWVOwECBAgQIECAAAECoxOQigABAgQIjCgggDUijRUECBAg0CsCf7vz1vK7+de0deqVuitnfwk8vOCW8uCf/7iYaezr+ktw8bW9+Y47y+9u/Gtbp8Xv0VoCBAgQIEBgtAICWKOVko4AAQIEulLga3NOKpvst0V58Sdf0Z7pH/k8bd9NylXzru7KOitUfwrcff43yy0HvbTceuiu7Z0+M7M8dPPc/kRtqfWxsy8pG8/6XNnmgGPaOm27ML9r5t/SsiezBAgQIECAwHgEBLDGo2YbAgQWK2AlgckSuP3uO8oHv3VgR3Z3zwP3loO+e3BH8pYpgbEKPHT7X8qdpx021s1Glf7B+deWO888alRp65po/m1/Lwd888cdqd5vb/xr+eR3zulI3jIlQIAAAQL9JCCA1Z2trVQECBAgMAqB2+66bRSpxp9k/sKgwfi3rv+Wt912WzniiCPKZpttVq688sraVPihhx4ql156aXnjG99YZs6cWe66664pr9sjd3b2WH/o1pumvI5TWYC//f3uju7++ltu72j+MidAgACBnhZQ+FEKCGCNEkoyAgQIECDQDoFHHnmk/O///m9597vfXTbaaKOy9tprV9OGG25YLfvlL39Z5s+fX44++uh27K5jeZx22mlVeQ899NByxx13LHE/55xzTlXPZn1H8/6ud72rPPjgg0vMu50J7rnnnnLssceWj370o+Xcc88tCWa1M/+65pUg3y677LLENn72s59dHTf5DuS7UFePya7XTTfdVPbZZ5/y97//fbJ3bX8EukRAMQgQ6AcBAax+aGV1JECAAIGuELj55pvLHnvsUV71qleV5ZZbrnznO98pc+fOLTfeeGO5/PLLq+WzZs0qz3/+88vvf//7rijzSIV4zWteU774xS+W5zznOSMlGbQ8gaD11luv/OQnPynz5s2r6pwgRgJZSXj88cdXy2Jx1VVXlTe/+c0lPbzuu+++rB7TlIv4L33pS2Pappl4xRVXrAIsH//4x8sKK6zQXOx9CQLTpk2rjucrrriivOAFL6hSv/CFL6yO47Rp2vxXv/pVSVBy9uzZ5ZWvfGX50Ic+NOkByqpgNXz58Y9/XE499dSq5+C4q2dDAgQIECDQ5QICWF3eQIpHgAABAvUQyAX87rvvXnKh+d///d/l85//fNUDa5lllqkqmADAK17xivLDH/6wbLXVVuXPf/5zufvuu6t13fqSsq+00kqjKl7SfvKTnyz/9E//VBqNxmK3WXXVVcsHPvCBsvHGGy823Ugrr7766vKHP/xhpNWjWr7UUkstsZxDM/K5lNVWW63suOOOi1A0Go2yxhprlL333ruccsopJYHCr33ta9XxvkhiC8YkkEBvguHp0Rbbye61OKbCSkyAAAECBCYgsNQEtrUpAQIECBBop0Bt87r33nvLf/3Xf5Xf/e53VWAmPbAajeGDONOnTy+f+MQnSoI4uSCtC0oCQuuvv/6oq5P6P/3pTx91+mbC3MqW4GC3B/+a5e3H90022aTssMMOVdUTsBVwqSjG/fKzn/2sJGjbaDTKmWeeWdILbtyZ2ZAAAQIECHSxgABWFzeOohEYu4AtCBDoRoH0ujr77LPLjBkzyhve8IYl9uxJ4Ca35tUpCLPddtuV3EI4lvb5l3/5l5KeaaPdJoGQY445puSCfrTbSDf5AksvvXR1C21Z+F+Cu7m9dOGsf+MQiF96Xx188MEl37EHHnigupWwTsHvcbDYhAABAgRqKiCANbRhfSZAgAABAm0USI+g3CqVLDM20JprrpnZxU6NRqMah+lJT3rSQLoM0vyFL3yhbLvtttUT/zIo+jOf+czyvOc9r+p9kYQZY+s///M/q0BZxpaasTBg9o53vKPccMMNWV1NCfJkDKLdd9+9vPe97y250P3BD35Q5ZNtXv/611eDyFeJW14SZDj99NOr/Sdd8j7wwAPLggULWlJ1ZnbovrP/9GK76KKLqvJnr3HOINaHH354PlbjMSXdBhtsUHllYQKCudB/1rOeVQ02/pSnPKW89rWvLRlzK+tNkyOQcd9+8YtfVDt78YtfXJZffvlq3svYBS655JLyl7/8pbptc7fddqsyOOusswZ956uFXggQIEBgeAFLe0pAAKunmkthCRAgQKDXBBJ4+s1vflMVO4GTRmP4WwerBCO8JFBz0kknlQSwkl8GP8+g5xlHKBevGRz7lltuKQlKZV8XXnhhuf7666tbEdP7K088zMDmecLet771rZKA2s9//vOSz4cddli54IILygEHHFBe8pKXlIsvvrhkAPMEuprFyXxugUzAKwNvJ+/0cvrTn/5U/u///q+ZrCPv6WGS/R555JHVoPHZd3qzZXD39GbLEwMThEtPrYwt9qMf/agaXylPxMvg4ddee23Jk++STxy+//3vl+9+97vVQPInnnhiFbx6y1veUnl1pAJ9nOn9998/aJD2tFmOzXgn2JrgVdqpj4kmVPV8L/N9fulLX1oS7M7YeQnYZvy8BJsnlLmNCYxBQFICBAhMloAA1mRJ2w8BAgQI9KVAej/dfvvtVd2f+tSnVu/DvaRXVHoMDZ1ygZ8xg/7jP/6jGjcogZg8ofArX/lKdatcgjFJk6BWxth6+ctfXtLLK7dpZVD4DTfcsOpRdeedd1aBnTe+8Y3VkxAbjUb59a9/XfVAOuSQQ0p6XiVwtfrqq1dPMrv11lsHiplxdb7xjW+UpEv+yXvdddct6c30+Mc/fiBdJ2ZOOOGEcsYZZ1RBtQQAs++8J3CVsma8sATjlrTvmKXXT56Mt9FGG1W3ceaCP1Pap7W+S8rL+tEJXHbZZdWDCprHdMZAy7GaAfYTCD3++OPL4x73uNFlVu9U46pdgrPpPbjzzjtX2yeI9epXv7qaP/nkk8tf//rXat4LAQIECBCoi4AAVl1aUj0IECBAoCsFcvtbs2DpBdWcH/q+0047VU/Oy21wWddoNMrRRx9dPbEtvYvyFL/0uMrtVrvuumvJ51z8b7nllmWFFVYoT3ziE6tgQJ4Cl+0zJW2W33HHHYMuZldZZZVqm80226ykx0bSZsq2T3va00rKnCnLUuYEi9Zaa63yohe9KIsGpnXWWafkNsaBBW2eyQX4N7/5zfKMZzxjkf1kPK0E6B5++OHyrW99a1BPn+GK8YQnPKF6Ql6CXs318clg8QkKZl/N5d7bI5BgYQKH6Qk3b968anDxz372s2XllVcun/rUp6oxmzrdg689Nem+XNLrMD0pc1ty63c4wawElRPcSs/K7iu5EhEgQIAAgfELCGCN386WBAgQqI+AmnRMIMGiBJuyg1zE532kKYGozTffvFqd3hTPfe5zq55C1YJ/vDQajZIn+pUh/2UsrN/+9rdl5syZVTAnPboyJk5u2RqSdIkfWwNeuSUxPbUyXlQCZq0bNxqNkh5RpUP/5RbF6667rqy00kpVwK51N41Go2y//fbVossvv7zcdttt1fxILwm25VbM3AqZ4Nyll15a0hstA2CPtI3l7RNoNBpVADED8+cW0Kc+9aklbfue97yn6iHYvj31R07p2TlnzpwSz+b5JTVPMCu3ZmY+vbASnM28iQABAgQI1EFAAKsOragOXSGgEAQIEBhOILfaPfnJT65WZXypJV1QphdUelotu+yy1S1/1YajfEne//M//1PyBMPcdpfb67bYYotRbj18sgSzMtbO8Gs7u3RJ+15jjTUqo5QvPVKWVJoErr4CRt6mAAAQAElEQVT//e+X5z//+eXzn/98mTVrVnnd6163pM2sb7NAgokZ1yzZpqfQT3/608yaxiBwyimnlNjllsHmLZp5T8/E0047rcrp/PPPL+MJYFcbeyFAgAABAl0o0E0BrC7kUSQCBAgQIDAxgQRZXvayl1WZZAymTt0yld5duaUuPa/Sw+WII44oT3/604ftrVUVZowvCf6MJkg0xmwXm7zZuys9sRb3tMNcuKeX1uIyy62QGTz80EMPLbkt8etf/3oVyGruY3HbWtd+gfQUSqA2OSdQmXfT6ARyu2sC1HmoQ27PHDpdccUV1W23+b4m0JUA7+hylooAAQKTKmBnBMYsIIA1ZjIbECBAgACB0Qs0Go1q0PTcMvXAAw9UTxJMT6nR57DklLlQzdMEMzj2fvvtVw3ivuStRpciAbgEGnJ7YoJko9uqPakS5EjvtTxpMfsfmmsCH7Hceuutq3GVhq5v/ZwnDp577rnl/e9/f8kg8K3rzE++wN/+9reStsue89CBvJtGJ5AngOZ23n/+538edoP04nzb295Wrcsxn55a1QcvNRRQJQIECPSXgABWf7W32hIgQIDAFAjklqmjjjqqZHDl9I769Kc/PXDxPtbiJAjWvPBvbnv33XeXjImTXlJ33XVXc3G55557SmvPpaRLb4wMfJ6g10DCxcykF1cGb08+X/ziF6vxtZrJk0f22fzc7veMu5UxvbKfDCTfWrfs65JLLikZhP2Vr3xlPg6aUvfUNVYJvGUw8SRI0CvvmbIu9cp8pvvvv78yy7ypcwLpDXfMMceUtGuClBnsvXN7W0LOPbY6Y7199atfLe94xzuqhzaMVPz0+oxtju8vfelLg763I21jOQECBAgQ6HYBAaxubyHlI0CAAIFaCGy66ablhz/8Ycl7gjEvfelLy5lnnlmaQZn77ruvZGDxz33uc1UQZbnllht0+18CVFdffXV1IZp8EnxpwuQphZtsskkVEMjYQl/+8pfLJz/5yfKhD32oyj9ps81nPvOZkiBWAj9ZlgHa//znPzezqQbTTi+urPvjH/9Y5ZeB5ZNnnuKXQaHf/va3l5TjmmuuKRkQ/aqrrqrKm/njjjuumh/IcDEzCV5kUPX58+dXqVK+7Lf68I+XRqNR3v3ud5f0sEqvk/33378arD1Bs+9973vlK1/5SjnkkEOq26X+sUk1JlaeLnjOOeeUBNw+/vGPV0G8LbfcskoSlxjn9qt/+7d/K+ndlRUJLObJeLfffntV7/T4ShDspptuKjfffHOSmEYhcMstt5RYJmmO6QRQMp8pnzMO3O67714yAHl69h144IFt7TGY/dR1SuAv49rloQUJzmYaqa75juR7kPXf/va3S6bFpU86EwECBAgQ6HYBAaxubyHlI0Cg7gLq10cC66+/fvnBD35QMsjyRhttVPbbb79qnKqM4ZR1CQ4lYJQxms4777zqqW3hybhWCcAkcJTP6VGx8cYblyuvvDIfqylBpgxInmDLZz/72WrbDOj+1re+tXqSYcbJ2WuvvUr28dGPfrTaJuNxbbbZZuXoo4+upu22264K1iS4lODOrFmzqnQZFP4nP/lJedWrXlVyS1KCb7llce+99y55+uHLX/7yks/vfOc7qwBStdFiXlLuDTfcsApOpTdYkmasnqc97WlVOfK5OeVWqRNOOKEkEPXzn/+8pN4zZswoCWBl2nnnnZtJq/f0OvnABz5QBfoSyMu4YLHeddddS8qbIErGB7v11lvLkUceWfbdd9+SYGECcu9617uqYErqneXJcO7cuVUALUb5bBpeIIHYXXbZpXqAQAKkSfWrX/2qGmcsx3emHONJkyDhPvvsUy644ILykpe8JElNSxDI9zpW3/rWt6oAa/y22mqr6vs6dNOcL/K9zvc76/Idy3cigcO0U5aZCBAgQIBALwoIYPViqynzEAEfCRAg0DsCGTQ8T8FLcCmBnASWmlM+Z3kCScsss8xApXbaaafSTNN8z7g2z372swfSJNCT2xSzPj2r9txzz5I89thjj+r2wqzLeFbf+c53FskrwapM2bZ1SqCnuYOMU5TbvtITLFPmE4RKz44E1HKrYaPRaCZf7HvKnfK37qs5n3IM3ThBvQTeEhBJuuw/Y1pln0PTNhqNksHar7vuupL0uf0xaWKRHmnZNusOOuigkoHfY5tB4k899dQqeJW0qXf20zoNV66kNT0qkF6Awx1brYaZj38eZvDBD36wrL766o9u7HWJArFKYDCGzSmfs3zoxjmmm2la39M+aaeh6X0mQIAAAQK9IvBoAKtXSqucBAgQIECAAAECBAgQIECAwPgFbEmgRwUEsHq04RSbAAECBAgQIECAAIGpEbBXAgQIEJh8AQGsyTe3RwIECBBok8BTnzSjPGutZ7Qpt0WzefFG2yy60BICUyCwzDrPLGWppTu25+We8cKO5T1Cxl21eON11yjLLdM53xdv/LSuqq/CECBAgACBXhQQwOrFVlNmAgQIEBgQ+OI7jigv3eQl5RlrbtjW6Z3bv6V8YtcDB/bTfTNK1G8CT9j3a2W5p7+gLPPk9ds6rfTiN5eVd9673zgXqe9ZH35H2e6f1i/PWPtJbZ3+7eUvLB/e1WD1i4BbQIAAAQIExigggDVGMMkJEKiRgKrUQmCDNZ5WvrrnMeXc/zqzrdPHdjmgFj4qUR+BZdZ+Rpm+1/+UJ3zglLZOK7/qP+qDNIGapBfWKe//1/LzT+zV1ukju+04gVLZlAABAgQIEGgKCGA1JbyPS8BGBAgQIECAAAECBAgQIECAQP0FprqGAlhT3QL2T4AAAQIECBAgQIAAAQL9IKCOBAhMQEAAawJ4NiVAgAABAgQIECBAYDIF7IsAAQIE+lVAAKtfW169CRAgQIAAgf4UUGsCBAgQIECAQA8KCGD1YKMpMgECBAhMrYC9EyBAgAABAgQIECAwuQICWJPrbW8ECDwq4JUAAQIECBAgQIAAAQIECIxaQABr1FTdllB5CBAgQIAAAQIECBAgQIAAgfoLqGEEBLCiYCJAgAABAgQIECBAgACB+gqoGQECPS8ggNXzTagCBAgQIECAAAECBDovYA8ECBAgQGAqBQSwplLfvgkQIECAAIF+ElBXAgQIECBAgACBcQoIYI0TzmYECBAgMBUC9kmAAAECBAgQIECAQD8KCGD1Y6urc38LqD0BAgQIECBAgAABAgQIEOgxAQGscTSYTQgQIECAAAECBAgQIECAAIH6C6hh9wgIYHVPWygJAQIECBAgQIAAAQIE6iagPgQIEGiLgABWWxhlQoAAAQIECBAgQKBTAvIlQIAAAQIEBLAcAwQIECBAgED9BdSQAAECBAgQIECgpwUEsHq6+RSeAAECkydgTwQIECBAgAABAgQIEJgqAQGsqZK3334UUGcCBAgQIECAAAECBAgQIEBgHAI9FsAaRw1tQoAAAQIECBAgQIAAAQIECPSYgOISGCwggDXYwycCBAgQIECAAAECBAjUQ0AtCBAgUCMBAawaNaaqECBAgAABAgQItFdAbgQIECBAgEB3CAhgdUc7KAUBAgQIEKirgHoRIECAAAECBAgQmLCAANaECWVAgACBTgvInwABAgQIECBAgAABAv0tIIDV3+3fP7VXUwIECBAgQIAAAQIECBAgQKBnBUYdwOrZGio4AQIECBAgQIAAAQIECBAgMGoBCQl0o4AAVje2ijIRIECAAAECBAgQINDLAspOgAABAm0WEMBqM6jsCBAgQIAAAQIE2iEgDwIECBAgQIDAYwJdHcBasGBBmTVrVll55ZVLo9Go3vM5yx+rwuC5W2+9tey5555l6aWXrqaZM2eWefPmDU7U8qnb0rcUzSwBAgQIEJiYgK0JECBAgAABAgQI1ERgqW6tx9y5c8vzn//8csQRR5THP/7xZdVVVy133XVX9TnL5y5cP7TsWbbllluWa665psyfP78k0JXg1w477FCyrtvTDy2fzwQITL2AEhAgQIAAAQIECBAgQIDA1At0ZQDrkUceqQJV6T115513lptuuqn87W9/K2eddVaZPn16FaDab7/9yoMPPjggeM8995S99967JP2xxx5bVl999TJt2rRy8MEHVz2x9thjj2pdc4NuS98sVw3fVYkAAQIECBAgQIAAAQIECBCov0BHa9iVAawEqxKAOvDAA6sgVAQajUZ56UtfWo488sh8LJdcckkV1Ko+LHyZM2dOOfPMM8tWW21VZsyYsXDJo//WWGONstNOO5XZs2eXM84449GFC1+7Lf3CIvlHgAABAgQIECBAgAABAn0toPIECIwk0JUBrNVWW62kh9Wyyy67SLm33377svbaa1e9rx5++OFqfXpsnXbaaSWfN99887LMMstUy5svW2yxRTWbNOm11W3pq8J5IUCAAAECBAgQIEBg4gJyIECAAIFaCnRlAGtx0s3B2Z/61KeWxz3ucVXS22+/vVx88cXV/EYbbVS9t76st956VVDryiuvLEmbqZvSt5bVPAECBAgQIEBgqgXsnwABAgQIECDQbQI9F8DKeFi33HJL2WWXXaqnEgb03nvvLTfffHMVpMpg71nWOq244oplueWWK3niYAZ277b0rWU1T4AAAQK1EFAJAgQIECBAgAABAgTaKNBzAawLL7ywpPfVbrvtNsDQDGolSJVg1cCKITMJXt12223VoPAJgnVL+iHF9JEAgUrACwECBAgQIECAAAECBAgQeFSgpwJYN9xwQznmmGPK5z73ueopg49Wof9eL7vssjKqSTpOjgHHgGPAMeAYcAw4BhwDjgHHgGPAMeAYqP8x0OY27sZIS88EsB544IHyyU9+srz5zW8uO+644yDLPGlwuFsHByVa+CFpkjZT5hcuWuy/pEnaTJlfbOKFK5MmaTNlfuGixf5LmqRdbCIrCRAgQIAAAQIECBAgQKDjAnZAgEB3C/REACtPDfz85z9fDdq+7777lkajMUh12rRpZc011yx33313NRbWoJULP+QWw6xLmqTNlPksy9hZC5MM+jfZ6QftfBQfNttss2Ji4BhwDDgGHAOOAceAY8Ax0GXHgN+ofqc7BhwDjoGaHAOjCE1MepKeCGCdeuqp5frrry8HH3xwWXbZZRdBmj59etl4442r5UlXzbS8JCCVj0mTtJkyn2XdkD7lMBEgQIAAAQIESmFAgAABAgQIECAwnEDXB7DOPvvscvHFF5dDDz102OBVKtVoNMrMmTOrnlkXXXRRSY+tLM+U+SxrNB5L02g8Np91SZO0mTKfZY3GY2kajcfmsy5pkjZT5rOs0XgsTaPx2HzWJU3SZsp8ljUaj6XJchMBAgQItElANgQIECBAgAABAgQI1E6gqwNYCV6dfvrp5SMf+UgZ+nTBW2+9tRoT65577qkaZbvttis777xzmT17drnuuuuqZXmZN29emTNnTjVu1tZbb51F1dRt6atCeSHQJQKKQYAAAQIECBAgQIAAAQIE/YclLgAAEABJREFUukmgawNYuW3wla98ZTnppJPKs571rLLuuusOTGuttVZ54hOfWFZZZZWBwFYCXEcddVRZaaWVygEHHFAWLFhQjYc1a9asqmfWcccdV1ZeeeUB+w6nr8o1lvIMFMwMAQIECBAgQIAAAQIECBAg0CsCyjlJAl0ZwPrBD35Qdt1113LfffeVv/71r+WGG24YNM2fP788+clPLq94xSsGMa233nrlnHPOKXliYYJb66yzTjW4+wUXXFCyblDihR+yrJvSLyySfwQIECBAgAABAgQIEOgzAdUlQIDAkgW6MoD16le/ujz00EMl40WNNCWItf766y9SwwStTj755Grb+++/v6QX1GqrrbZIuuaCbkvfLJd3AgQIECBAgAABAqMWkJAAAQIECNRcoCsDWDU3Vz0CBAgQIECgCwUUiQABAgQIECBAoHsFBLC6t22UjAABAr0moLwECBAgQIAAAQIECBDoiIAAVkdYZUpgvAK2I0CAAAECBAgQIECAAAECBIYK1C+ANbSGPhMgQIAAAQIECBAgQIAAAQL1E1CjvhIQwOqr5lZZAgQIECBAgAABAgQIPCZgjgABAr0iIIDVKy2lnAQIECBAgAABAt0ooEwECBAgQIDAJAgIYE0Csl0QIECAAAECixOwjgABAgQIECBAgMDiBQSwFu9jLQECBHpDQCkJECBAgAABAgQIECBQYwEBrBo3rqqNTUBqAgQIECBAgAABAgQIECBAoDsF2hnA6s4aKhUBAgQIECBAgAABAgQIECDQTgF5EZh0AQGsSSe3QwIECBAgQIAAAQIECBAgQIAAgbEICGCNRUtaAgQIECBAgACB7hFQEgIECBAgQKBvBASw+qapVZQAAQIECCwqYAkBAgQIECBAgACBXhAQwOqFVlJGAgS6WUDZCBAgQIAAAQIECBAgQKDDAgJYHQaW/WgEpCFAgAABAgQIECBAgAABAgTqLzD+Ggpgjd/OlgQIECBAgAABAgQIECBAYHIF7I1AnwoIYPVpw6s2AQIECBAgQIAAgX4VUG8CBAgQ6D0BAazeazMlJkCAAAECBAhMtYD9EyBAgAABAgQmVUAAa1K57YwAAQIECDQFvBMgQIAAAQIECBAgMFoBAazRSklHgED3CSgRAQIECBAgQIAAAQIECPSFgABWXzTzyJW0hgABAgQIECBAgAABAgQIEKi/QK/XUACr11tQ+QkQIECAAAECBAgQIEBgMgTsgwCBKRQQwJpCfLsmQIAAAQIECBAg0F8CakuAAAECBMYnIIA1PjdbESBAgAABAgSmRsBeCRAgQIAAAQJ9KCCA1YeNrsoECBDodwH1J0CAAAECBAgQIECgtwQEsHqrvZSWQLcIKAcBAgQIECBAgAABAgQIEJg0AQGsSaMeuiOfCRAgQIAAAQIECBAgQIAAgfoLqGE7BASw2qEoDwIECBAgQIAAAQIECBDonICcCRDoewEBrL4/BAAQIECAAAECBAj0g4A6EiBAgACBXhYQwOrl1lN2AgQIECBAYDIF7IsAAQIECBAgQGCKBASwpgjebgkQINCfAmpNgAABAgQIECBAgACBsQsIYI3dzBYEplbA3gkQIECAAAECBAgQIECAQJ8J9GUAq8/aWHUJECBAgAABAgQIECBAgEBfCqh0fQQEsOrTlmpCgAABAgQIECBAgACBdgvIjwABAl0hIIDVFc2gEAQIECBAgAABAvUVUDMCBAgQIEBgogICWBMVtD0BAgQIECDQeQF7IECAAAECBAgQ6GsBAay+bn6VJ0CgnwTUlQABAgQIECBAgAABAr0qIIDVqy2n3FMhYJ8ECBAgQIAAAQIECBAgQIDAFAhMcgBrCmpolwQIECBAgAABAgQIECBAgMAkC9gdgfYKCGC111NuBAgQIECAAAECBAgQaI+AXAgQIEBgQEAAa4DCDAECBAgQIECAQN0E1IcAAQIECBCoh4AAVj3aUS0IECBAgECnBORLgAABAgQIECBAYMoFBLCmvAkUgACB+guoIQECBAgQIECAAAECBAhMREAAayJ6tp08AXsiQIAAAQIECBAgQIAAAQIE6i8wQg0FsEaAsZgAAQIECBAgQIAAAQIECPSigDITqKOAAFYdW1WdCBAgQIAAAQIECBCYiIBtCRAgQKDLBASwuqxBFIcAAQIECBAgUA8BtSBAgAABAgQItE9AAKt9lnIiQIAAAQLtFZAbAQIECBAgQIAAAQKVgABWxeCFAIG6CqgXAQIECBAgQIAAAQIECPS+gABW77dhp2sgfwIECBAgQIAAAQIECBAgQKD+Al1dQwGsrm4ehSNAgAABAgQIECBAgACB3hFQUgIEOiUggNUpWfkSIECAAAECBAgQIDB2AVsQIECAAIFhBASwhkGxiAABAgQIECDQywLKToAAAQIECBCom4AAVt1aVH0IECBAoB0C8iBAgAABAgQIECBAoIsEBLC6qDEUhUC9BNSGAAECBAgQIECAAAECBAi0R0AAqz2OnclFrgQIECBAgAABAgQIECBAgED9BdRwiQICWEskkoAAAQIECBAgQIAAAQIEul1A+QgQqLeAAFa921ftCBAgQIAAAQIECIxWQDoCBAgQINC1AgJYXds0CkaAAAECBAj0noASEyBAgAABAgQIdEJAAKsTqvIkQIAAgfEL2JIAAQIECBAgQIAAAQJDBASwhoD4SKAOAupAgAABAgQIECBAgAABAgTqJCCANXxrWkqAAAECBAgQIECAAAECBAjUX0ANe0RAAKtHGkoxCRAgQIAAAQIECBAg0J0CSkWAAIHOCwhgdd7YHggQIECAAAECBAgsXsBaAgQIECBAYLECAliL5bGSAAECBAgQ6BUB5SRAgAABAgQIEKivgABWfdtWzQgQIDBWAekJECBAgAABAgQIECDQlQICWF3ZLArVuwJKToAAAQIECBAgQIAAAQIECLRboPsCWO2uofwIECBAgAABAgQIECBAgACB7hNQIgJjEBDAGgOWpAQIECBAgAABAgQIEOgmAWUhQIBAvwgIYPVLS6snAQIECBAgQIDAcAKWESBAgAABAj0gIIDVA42kiAQIECBAoLsFlI4AAQIECBAgQIBAZwUEsDrrK3cCBAiMTkAqAgQIECBAgAABAgQIEBhRQABrRBorek1AeQkQIECAAAECBAgQIECAAIF6CrQGsOpZQ7UiQIAAAQIECBAgQIAAAQIEWgXME+g5AQGsnmsyBSZAgAABAgQIECBAYOoFlIAAAQIEJlNAAGsyte2LAAECBAgQIEDgMQFzBAgQIECAAIFRCghgjRJKMgIECBAg0I0CykSAAAECBAgQIECgHwQEsPqhldWRAIHFCVhHgAABAgQIECBAgAABAl0uIIDV5Q3UG8VTSgIECBAgQIAAAQIECBAgQKD+AlNXQwGsqbO3ZwIECBAgQIAAAQIECBDoNwH1JUBgXAICWONisxEBAgQIECBAgAABAlMlYL8ECBAg0H8CAlj91+ZqTIAAAQIECBAgQIAAAQIECBDoKQEBrJ5qLoUlQIAAge4RUBICBAgQIECAAAECBCZLQABrsqTthwCBRQUsIUCAAAECBAgQIECAAAECoxAQwBoFUjcnUTYCBAgQIECAAAECBAgQIECg/gL9XkMBrH4/AtR/0gWumnd1efdXZ5UN37dpWWvvDU0MHAP/OAbynch3I9+RSf9i2iEBAgQIECDQDwLqSIBADwsIYPVw4yl67wnkwvzVh80sp132w3LXfXf1XgWUmEAHBfKdyHcj35F8Vzq4K1kTIECAwLgFbEiAAAECBKZGQABratzttU8Fjp59bLn3gXv7tPaqTWB0AvmO5LsyutRSEehBAUUmQIAAAQIECBAYs4AA1pjJbEBg/AJnX3Xe+De2JYE+EljSd6WPKFSVAAECBAgQIECAAIGFAgJYCxH8IzBZArlFarL2tYT9WE2gqwV8V7q6eRSOAAECBAgQIECAwKQLCGCNm9yGBAgQIECAAAECBAgQIECAQP0F1LAbBASwuqEVlIEAAQIECBAgQIAAAQJ1FlA3AgQITFBAAGuCgDYnQIAAAQIECBAgMBkC9kGAAAECBPpZQACrn1tf3QkQIECAQH8JqC0BAgQIECBAgECPCvREAOuuu+4qX/7yl8uWW25Z5s+fv0Tqgw46qDQajUHT8ssvXy688MJFtr311lvLnnvuWZZeeulqmjlzZpk3b94i6ZoLOp2+uR/vBAgQ6E4BpSJAgAABAgQIECBAgMDkCyw1+bsc/R4TuDr88MPLs5/97PLOd75zVMGrP/3pT+VLX/rSIjt5/etfXzbffPNBy+fOnVsFxa655poq7wULFpSVV1657LDDDiXrBiVe+CHLEkTrVPqFu/CvHwTUkQABAgQIECBAgAABAgQIEBiTQFcHsKZNm1be+973lvPPP7+svfbaAxUbaeaRRx4pX/nKV8p+++1XMt86nXTSSWWZZZYZ2PSee+4pe++9d7nzzjvLscceW1ZfffWS/R188MFVT6w99tijWtfcoNPpm/vxToAAAQIECBAgQIAAAQIECDwq4JVAU6CrA1jNQk6fPr1ssMEGzY8jvv/hD38ol156adltt91GTNNcMWfOnHLmmWeWrbbaqsyYMaO5uKyxxhplp512KrNnzy5nnHHGwPJOpx/YkRkCBAgQIECAAAECBAi0T0BOBAgQqIXAUrWoxcJKpLfVCSecUM4666yyySablPe9733lhhtuWLhm0X9Je9ppp5WHH364uq2wtWdWUm+xxRZ5K0nz4IMPVr25Mt+p9NXOvBAgQIAAAQIECHSpgGIRIECAAAECUy2w1FQXoF37T++rDPSe/G6++eaSsbPWXXfdss8++5SMpZXlzen2228vF198cfVxo402qt5bX9Zbb73qdsMrr7yyJG2mTqZv3bd5AgQIECBQSwGVIkCAAAECBAgQIDABgdoEsHKLYXpc3XTTTeXkk0+uelbF5cgjjyy77LJLueOOO/Kxmu69996SIFd6Xq266qrVstaXFVdcsSy33HIlTxzMwO6dTt+6b/MECBAYScByAgQIECBAgAABAgQI9KtAbQJYacCll166rLnmmmXXXXeteljltr+VVlqpuq3wmGOOSZJqSpDrlltuqYJUCVZVC4d5SfDqtttuK51OP8yuLeqMgFwJECBAgAABAgQIECBAgACBHhQYYwCrd2rYaDTKq1/96nLiiSeWpZZaqnpP0Kp3aqCkBAgQIECAAAECBAgQIEBgqgTsl0B3CdQ2gNVkThDrDW94QzWg+4033lgtzpMGh7t1sFrZ8pI0SZsp8y2rhp1NmqTNlPlhE7UsTJqkbVk0qtnLLrusmHrTYFQNLBEBApWA81xvnue0m3ZzDDgGHAMtx4Df7a5bHAOOgR49Bqof5F32UvsA1rLLLlte8pKXlIceeqjkiYLxnzZtWnWr4d13312NhZVlrVNuGcy63I6YtJkyn2UZO6s1beYnmkYEvSIAABAASURBVD55mAgQIECAAAECBBYVsIQAAQIECBAgEIHaB7BSybXWWqvMmDGj5OmC+Tx9+vSy8cYbZ7Zcf/311XvrSwJS+Zw0SZsp81nWifTJdyzTZpttVky9aTCWdpaWQL8LOM+17Tzn/xn+v+kYcAw4BhwDjgHHgGPAMTCmY6Abr0VqH8B65JFHypw5c8rrX//68sQnPrFqg0ajUWbOnFkajUa56KKLStJUKxa+ZD7LGo3H0jQaj81nXdIsTFr9y3yWNRqPpWk0HpvPuqSpEi98yXyWNRqPpVm42D8CBLpaQOEIECBAgAABAgQIECBAYCoFeiqAdf/995d77rlnWK9rr722ClTlVsHWBL/85S/LBRdcUPbcc88qYNVct91225Wdd965zJ49u1x33XXNxWXevHlVPjvuuGPZeuutB5Z3Ov3Ajuo6o14ECBAgQIAAAQIECBAgQIBA/QU6VMOeCGD99re/LVdccUX5y1/+UgWjhgap7rrrrrLXXnuVbbbZpuy0007l5z//eZk7d2455JBDyv7771++9rWvlXXWWWcQ4YorrliOOuqostJKK5UDDjigLFiwoBoPa9asWVWg67jjjisrr7zywDadTj+wIzMECBAgQIAAAQIECBAg0NcCKk+AwKICXR3AuvPOO8v2229fNt9883L77bdXt/q96U1vKuuvv36ZP3/+QG0yyPqHP/zh8sxnPrOce+65Zdttt616V2Xsq9NPP71k/KuBxC0zGRPrnHPOKQ888EBZZZVVqiBXBmtPj62sa0lazWZZJ9NXO/FCgAABAgQIECBAgMBEBWxPgAABAjUT6OoAVnpAnXfeeVXgKmNHNaf0rkqgqbUtcovfb37zm4G0V111VXnzm99c0nOqNd3Q+fTMOvnkk6vtcotiemWtttpqQ5MNfO50+oEdmSFAgAABAgQITKmAnRMgQIAAAQIEukegqwNY3cOkJAQIECBAYBwCNiFAgAABAgQIECBAoC0CAlhtYZQJAQKdEpAvAQIECBAgQIAAAQIECBAQwKr/MaCGBAgQIECAAAECBAgQIECAQP0Fal1DAaxaN6/KESBAgAABAgQIECBAgMDoBaQkQKBbBQSwurVllIsAAQIECBAgQIBALwooMwECBAgQ6ICAAFYHUGVJgAABAgQIEJiIgG0JECBAgAABAgQGCwhgDfbwiQABAgTqIaAWBAgQIECAAAECBAjUSEAAq0aNqSoE2isgNwIECBAgQIAAAQIECBAg0B0CAlidbAd5EyBAgAABAgQIECBAgAABAvUXUMOOCwhgdZzYDggQIECAAAECBAgQIEBgSQLWEyBAYHECAliL07GOAAECBAgQIECAQO8IKCkBAgQIEKitgABWbZtWxQgQIECAAIGxC9iCAAECBAgQIECgGwUEsLqxVZSJAAECvSyg7AQIECBAgAABAgQIEGizgABWm0FlR6AdAvIgQIAAAQIECBAgQIAAAQIEHhOoawDrsRqaI0CAAAECBAgQIECAAAECBOoqoF59IiCA1ScNrZoECBAgQIAAAQIECBAYXsBSAgQIdL+AAFb3t5ESEiBAgAABAgQIdLuA8hEgQIAAAQIdFRDA6iivzAkQIECAAIHRCkhHgAABAgQIECBAYCQBAayRZCwnQIBA7wkoMQECBAgQIECAAAECBGopIIBVy2ZVqfEL2JIAAQIECBAgQIAAAQIECBDoNoH2B7C6rYbKQ4AAAQIECBAgQIAAAQIECLRfQI4EJlFAAGsSse2KAAECBAgQIECAAAECrQLmCRAgQGB0AgJYo3OSigABAgQIECBAoDsFlIoAAQIECBDoAwEBrD5oZFUkQIAAAQKLF7CWAAECBAgQIECAQHcLCGB1d/soHQECvSKgnAQIECBAgAABAgQIECDQMQEBrI7RynisAtITIECAAAECBAgQIECAAAEC9RcYTw0FsMajZhsCBAgQIECAAAECBAgQIDB1AvZMoO8EBLD6rslVmAABAgQIECBAgACBUhgQIECAQC8JCGD1UmspKwECBAgQIECgmwSUhQABAgQIECAwSQICWJMEbTcECBAgQGA4AcsIECBAgAABAgQIEFiygADWko2kIECguwWUjgABAgQIECBAgAABAgRqLiCAVfMGHl31pCJAgAABAgQIECBAgAABAgTqL9C7NRTA6t22U3ICBAgQIECAAAECBAgQmGwB+yNAYEoEBLCmhN1OCRAgQIAAAQIECPSvgJoTIECAAIGxCghgjVVMegIECBAgQIDA1AsoAQECBAgQIECgrwQEsPqquVWWAAECBB4TMEeAAAECBAgQIECAQK8ICGD1SkspJ4FuFFAmAgQIECBAgAABAgQIECAwCQICWJOAvLhdWEeAAAECBAgQIECAAAECBAjUX0ANJyYggDUxP1sTIECAAAECBAgQIECAwOQI2AsBAn0sIIDVx42v6gQIECBAgAABAv0moL4ECBAgQKA3BQSwerPdlJoAAQIECBCYKgH7JUCAAAECBAgQmHQBAaxJJ7dDAgQIECBAgAABAgQIECBAgACBsQgIYI1FS1oC3SOgJAQIECBAgAABAgQIECBAoG8E+jiA1TdtrKIECBAgQIAAAQIECBAgQKCPBVS9DgICWHVoRXUgQIAAAQIECBAgQIBAJwXkTYAAgSkWEMCa4gawewIECBAgQIAAgf4QUEsCBAgQIEBg/AICWOO3syUBAgQIECAwuQL2RoAAAQIECBAg0KcCAlh92vCqTYBAvwqoNwECBAgQIECAAAECBHpPQACr99pMiadawP4JECBAgAABAgQIECBAgACBSRWYkgDWpNbQzggQIECAAAECBAgQIECAAIEpEbBTAu0SEMBql6R8CBAgQIAAAQIECBAg0H4BORIgQIDAQgEBrIUI/hEgQIAAAQIECNRZQN0IECBAgACBXhcQwOr1FlR+AgQIECAwGQL2QYAAAQIECBAgQGAKBQSwphDfrgkQ6C8BtSVAgAABAgQIECBAgACB8QkIYI3PzVZTI2CvBAgQIECAAAECBAgQIECAQP0FFqmhANYiJBYQIECAAAECBAgQIECAAIFeF1B+AvUSEMCqV3uqDQECBAgQIECAAAEC7RKQDwECBAh0jYAAVtc0hYIQIECAAAECBOonoEYECBAgQIAAgXYICGC1Q1EeBAgQIECgcwJyJkCAAAECBAgQIND3AgJYfX8IACDQDwLqSIAAAQIECBAgQIAAAQK9LCCA1cutN5llty8CBAgQIECAAAECBAgQIECg/gJdWkMBrC5tGMUiQIAAAQIECBAgQIAAgd4UUGoCBNovIIDVflM5EiBAgAABAgQIECAwMQFbEyBAgACBQQICWIM4fCBAgAABAgQI1EVAPQgQIECAAAEC9REQwKpPW6oJAQIECLRbQH4ECBAgQIAAAQIECHSFgABWVzSDQhCor4CaESBAgAABAgQIECBAgACBiQoIYE1UsPPb2wMBAgQIECBAgAABAgQIECBQfwE1XIyAANZicKwiQIAAAQIECBAgQIAAgV4SUFYCBOoqIIBV15ZVLwIECBAgQIAAAQLjEbANAQIECBDoQgEBrC5sFEUiQIAAAQIEeltA6QkQIECAAAECBNorIIDVXk+5ESBAgEB7BORCgAABAgQIECBAgACBAQEBrAEKMwTqJqA+BAgQIECAAAECBAgQIECgHgICWItrR+sIECBAgAABAgQIECBAgACB+guoYdcLCGB1fRMpIAECBAgQIECAAAECBLpfQAkJECDQSQEBrE7qypsAAQIECBAgQIDA6AWkJECAAAECBEYQEMAaAcZiAgQIECBAoBcFlJkAAQIECBAgQKCOAgJYdWxVdSJAgMBEBGxLgAABAgQIECBAgACBLhMQwOqyBlGcegioBQECBAgQIECAAAECBAgQINA+gW4NYLWvhnIiQIAAAQIECBAgQIAAAQIEulVAuQiMSkAAa1RMEhEgQIAAAQIECBAgQKBbBZSLAAEC9RcQwKp/G6shAQIECBAgQIDAkgSsJ0CAAAECBLpaQACrq5tH4QgQIECAQO8IKCkBAgQIECBAgACBTgkIYHVKVr4ECBAYu4AtCBAgQIAAAQIECBAgQGAYAQGsYVAs6mUBZSdAgAABAgQIECBAgAABAgTqJrBoAKtuNVQfAgQIECBAgAABAgQIECBAYFEBSwj0kIAAVg81lqISIECAAAECBAgQINBdAkpDgAABApMjIIA1Oc72QoAAAQIECBAgMLyApQQIECBAgACBJQoIYC2RSAICBAgQINDtAspHgAABAgQIECBAoN4CAlj1bl+1I0BgtALSESBAgAABAgQIECBAgEDXCghgdW3T9F7BlJgAAQIECBAgQIAAAQIECBCov8BU1FAAayrU7ZMAAQIECBAgQIAAAQIE+llA3QkQGKOAANYYwSQnQIAAAQIECBAgQKAbBJSBAAECBPpJQACrn1pbXQkQIECAAAECrQLmCRAgQIAAAQI9IiCA1SMNpZgECBAg0J0CSkWAAAECBAgQIECAQOcFBLA6b2wPBAgsXsBaAgQIECBAgAABAgQIECCwWIGeCGDddddd5ctf/nLZcssty/z58xdboVtvvbXsueeeZemll66mmTNnlnnz5o24TbelH7Ggi11hJQECBAgQIECAAAECBAgQIFB/gf6t4VLdXPUErg4//PDy7Gc/u7zzne9cYvBq7ty5VZDrmmuuqdIuWLCgrLzyymWHHXYoWTe0rlmWoFi3pB9aPp8JECBAgAABAgQIECBAoM0CsiNAoCcFujqANW3atPLe9763nH/++WXttddeLPA999xT9t5773LnnXeWY489tqy++uol2x988MFVT6w99tijWtfMpNvSN8vlnQABAgQIECBAgEC3CygfAQIECBCYbIGuDmA1MaZPn1422GCD5sdh3+fMmVPOPPPMstVWW5UZM2YMpFljjTXKTjvtVGbPnl3OOOOMgeXdln6gYGYIECBAgACBfhBQRwIECBAgQIAAgTEILDWGtF2b9JFHHimnnXZaefjhh8vmm29elllmmUFl3WKLLarPSfPggw+WbktfFc4LAQIECIxRQHICBAgQIECAAAECBPpFoBYBrNtvv71cfPHFVZtttNFG1Xvry3rrrVcFta688sqStJm6KX1rWc0TmFQBOyNAgAABAgQIECBAgAABAj0gUIsA1r333ltuvvnmKki16qqrLsK+4oorluWWW67kiYMZ2L2d6bOzieafPEwECBAgQIAAAQIECBAgQIBA9woo2dQK1CKAddNNN5VbbrmlClIlmDQSaYJXt912W+m29COVd6Tll112WTH1psFIbWo5AQKLCjjP9eZ5TrtpN8eAY8Ax4BhYzDHgOsa1nGOgR46BRX+dT/2SWgSwpp5RCQgQIECAAAECBAhMhoB9ECBAgACB/hSoRQArTxoc7tbBoU2aNEmbKfND1w/9nDRJmynzQ9cP/Zw0SZsp80PBkkBdAAAQAElEQVTXD/2cNEk7dPmSPm+22WbF1JsGS2pb6wkQeEzAea43z3M90W7+P+p3hGPAMeAYcAw4BhwDjoHFHgOP/SrvnrlaBLCmTZtW1lxzzXL33XdXY2EN5c0tg1mXNEmbKfNZlrGzpjr90P37TIAAgW4XUD4CBAgQIECAAAECBAhMpkAtAljTp08vG2+8ceV2/fXXV++tLwlg5XPSJG2mzGdZN6RPOUx9J6DCBAgQIECAAAECBAgQIECAwCgFejiA9VgNG41GmTlzZmk0GuWiiy4qjzzyyMDKzGdZo/FYmkbjsfmsS5rmBpnPskbjsTSNxmPzWZc07UzfzMs7AQIECBAgQIAAAQIECBAgMFTAZwKl9FQA6/777y/33HPPsO223XbblZ133rnMnj27XHfddQNp5s2bV+bMmVN23HHHsvXWWw8s77b0AwUzQ4AAAQIECBAgQIAAgXYLyI8AAQI9LtATAazf/va35Yorrih/+ctfygUXXFAeeuihRdhXXHHFctRRR5WVVlqpHHDAAWXBggXVeFizZs2qemYdd9xxZeWVVx7YrtvSDxTMDAECBAgQIECAQFcKKBQBAgQIECAwdQJdHcC68847y/bbb18233zzcvvtt1e3Br7pTW8q66+/fpk/f/4iauutt14555xzygMPPFBWWWWVss4661SDuyfolXVDN8iybko/tHw+EyBAgACBmgmoDgECBAgQIECAAIFxCXR1ACs9ps4777wqcJVxp5rT3Llzq8DUcDVO0Orkk0+utskth+mVtdpqqw2XtFrWbemrQnkhQIDAiAJWECBAgAABAgQIECBAoP8EujqA1X/NocaTImAnBAgQIECAAAECBAgQIECAQE8JjCuA1VM1VFgCBAgQIECAAAECBAgQIEBgXAI2ItAtAgJY3dISykGAAAECBAgQIECAQB0F1IkAAQIE2iAggNUGRFkQIECAAAECBAh0UkDeBAgQIECAQL8LCGD1+xGg/gQIECDQHwJqSYAAAQIECBAgQKCHBQSwerjxFJ0AgckVsDcCBAgQIECAAAECBAgQmBoBAaypce/Xvao3AQIECBAgQIAAAQIECBAgUH+BttdQAKvtpDIkQIAAAQIECBAgQIAAAQITFbA9AQKtAgJYrRrmCRAgQIAAAQIECBCoj4CaECBAgEBtBASwatOUKkKAAAECBAgQaL+AHAkQIECAAAEC3SAggNUNraAMBAgQIFBnAXUjQIAAAQIECBAgQGCCAgJYEwS0OQECkyFgHwQIECBAgAABAgQIECDQzwICWP3S+upJgAABAgQIECBAgAABAgQI1F+gpjUUwKppw6oWAQIECBAgQIAAAQIECIxPwFYECHSfgABW97WJEhEgQIAAAQIECBDodQHlJ0CAAAECbRUQwGorp8wIECBAgAABAu0SkA8BAgQIECBAgEBTQACrKeGdAAECBOonoEYECBAgQIAAAQIECNRCQACrFs2oEgQ6JyBnAgQIECBAgAABAgQIECAw1QICWJ1vAXsgQIAAAQIECBAgQIAAAQIE6i+ghh0UEMDqIK6sCRAgQIAAAQIECBAgQGAsAtISIEBgeAEBrOFdLCVAgAABAgQIECDQmwJKTYAAAQIEaigggFXDRlUlAgQIECBAYGICtiZAgAABAgQIEOguAQGs7moPpSFAgEBdBNSDAAECBAgQIECAAAECbRMQwGobpYwItFtAfgQIECBAgAABAgQIECBAgEAE6h3ASg1NBAgQIECAAAECBAgQIECAQL0F1K72AgJYtW9iFSRAgAABAgQIECBAgMCSBaQgQIBANwsIYHVz6ygbAQIECBAgQIBALwkoKwECBAgQINAhAQGsDsHKlgABAgQIEBiPgG0IECBAgAABAgQILCoggLWoiSUECBDobQGlJ0CAAAECBAgQIECAQM0EBLBq1qCq0x4BuRAgQIAAAQIECBAgQIAAAQLdI9CpAFb31FBJCBAgQIAAAQIECBAgQIAAgU4JyJfApAgIYE0Ks50QIECAAAECBAgQIEBgJAHLCRAgQGBJAgJYSxKyngABAgQIECBAoPsFlJAAAQIECBCotYAAVq2bV+UIECBAgMDoBaQkQIAAAQIECBAg0K0CAljd2jLKRYBALwooMwECBAgQIECAAAECBAh0QEAAqwOospyIgG0JECBAgAABAgQIECBAgACB+guMrYYCWGPzkpoAAQIECBAgQIAAAQIECHSHgFIQ6CMBAaw+amxVJUCAAAECBAgQIEBgsIBPBAgQINAbAgJYvdFOSlkTgcuXe3wxMXAMjO4YqMnXXjUI9IOAOhIgQIAAAQIEOi4ggNVxYjsgQIAAAQJLErCeAAECBAgQIECAAIHFCQhgLU7HOgIEekdASQkQIECAAAECBAgQIECgtgICWLVt2rFXzBYECBAgQIAAAQIECBAgQIBA/QV6sYYCWL3YaspMgAABAgS6WOCqeVeXd391VtnwfZuWtfbe0MTAMfCPYyDfiXw38h3p4q+wohEgMDoBqQgQmGQBAaxJBrc7AgQIECBQZ4FcmL/6sJnltMt+WO667646V1XdCIxZIN+JfDfyHcl3ZcwZ1G4DFSJAgAABAqMXEMAavZWUBAgQIECAwBIEjp59bLn3gXuXkMrqtgnIqCcF8h3Jd6UnC6/QBAgQIEBgigQEsKYI3m4JECBAoDsElKK9AmdfdV57M5QbgZoK+K7UtGFViwABAgQ6JiCA1TFaGRPoGwEVJUCAwIBAbpEa+GCGAIERBXxXRqSxggABAgQIDCsggDUsy2QvtD8CBAgQIECAAAECBAgQIECg/gJqOF4BAazxytmOAAECBAgQIECAAAECBCZfwB4JEOhLAQGsvmx2lSZAgAABAgQIEOhnAXUnQIAAAQK9JiCA1WstprwECBAgQIBANwgoAwECBAgQIECAwCQKCGBNIrZdESBAgECrgHkCBAgQIECAAAECBAiMTkAAa3ROUhHoTgGlIkCAAAECBAgQIECAAAECfSDQ9wGsPmhjVSRAgAABAgQIECBAgAABAn0vAKC3BQSwerv9lJ4AAQIECBAgQIAAAQKTJWA/BAgQmDIBAawpo7djAgQIECBAgACB/hNQYwIECBAgQGA8AgJY41GzDQECBAgQIDB1AvZMgAABAgQIECDQdwICWH3X5CpMgACBUhgQIECAAAECBAgQIECglwQEsHqptZS1mwSUhQABAgQIECBAgAABAgQIEJgkgSkMYE1SDe2GAAECBAgQIECAAAECBAgQmEIBuyYwcQEBrIkbyoEAAQIECBAgQIAAAQKdFZA7AQIE+lxAAKvPDwDVJ0CAAAECBAj0i4B6EiBAgAABAr0rIIDVu22n5AQIECBAYLIF7I8AAQIECBAgQIDAlAgIYE0Ju50SINC/AmpOgAABAgQIECBAgAABAmMVEMAaq5j0Uy+gBAQIECBAgAABAgQIECBAgED9BVpqKIDVgmGWAAECBAgQIECAAAECBAjUSUBdCNRFQACrLi2pHgQIECBAgAABAgQIdEJAngQIECDQBQICWF3QCIpAgAABAgQIEKi3gNoRIECAAAECBCYmIIA1MT9bEyBAgACByRGwFwIECBAgQIAAAQJ9LCCA1ceNr+oE+k1AfQkQIECAAAECBAgQIECgNwUEsHqz3aaq1PZLgAABAgQIECBAgAABAgQI1F+g62oogNV1TaJABAgQIECAAAECBAgQIND7AmpAgEA7BQSw2qkpLwIECBAgQIAAAQIE2icgJwIECBAg8A8BAax/QHgjQIAAAQIECNRRQJ0IECBAgAABAnUQEMCqQyuqAwECBAh0UkDeBAgQIECAAAECBAhMsYAA1hQ3gN0T6A8BtSRAgAABAgQIECBAgAABAuMXEMAav93kbmlvBAgQIECAAAECBAgQIECAQP0F1HBYAQGsYVksJECAAAECBAgQIECAAIFeFVBuAgTqJyCAVb82VSMCBAgQIECAAAECExWwPQECBAgQ6CoBAayuag6FIUCAAAECBOojoCYECBAgQIAAAQLtEhDAapekfAgQIECg/QJyJECAAAECBAgQIECAwEIBAayFCP4RqLOAuhEgQIAAAQIECBAgQIAAgV4XEMBacgtKQYAAAQIECBAgQIAAAQIECNRfQA27WEAAq4sbR9EIECBAgAABAgQIECDQWwJKS4AAgc4ICGB1xlWuBAgQIECAAAECBMYnYCsCBAgQIEBgEQEBrEVILCBAgAABAgR6XUD5CRAgQIAAAQIE6iUggFWv9lQbAgQItEtAPgQIECBAgMAIAlfNu7q8+6uzyobv27SstfeGJgaOgX8cA/lO5LuR78gIXx+LCYxbQABr3HQ2JLAkAesJECBAgAABAgTqJpAL81cfNrOcdtkPy1333VW36qkPgQkJ5DuR70a+I/muTCgzGxMYItDdAawhhfWRAAECBAgQIECAAAECUylw9Oxjy70P3DuVRbBvAl0vkO9IvitjKqjEBJYgIIC1BCCrCRAgQIAAAQIECBAg0BQ4+6rzmrNd965ABLpJwHelm1qjHmURwKpHO6oFAQIECBAgQIDAxAXkQGCJArlFaomJJCBAwC22joG2CwhgtZ1UhgQIECBAoJ8F1J0AAQIECBAgQIBA+wUEsNpvKkcCBAhMTMDWBAgQIECAAAECBAgQIDBIQABrEIcPdRFQDwIECBAgQIAAAQIECBAgQKA+AiMFsOpTQzUhQIAAAQIECBAgQIAAAQIERhKwnEBPCNQygHXQQQeVRqMxaFp++eXLhRdeuEij3HrrrWXPPfcsSy+9dDXNnDmzzJs3b5F0zQWdTt/cj3cCBAgQIECAAAECBHpFQDkJECBAoNMCS3V6B5Od/5/+9KfypS99aZHdvv71ry+bb775oOVz584tW265ZbnmmmvK/Pnzy4IFC8rKK69cdthhh5J1gxIv/JBlnUy/cBf+ESBAgAABAgT6U0CtCRAgQIAAAQKLEahVAOuRRx4pX/nKV8p+++1XMt86nXTSSWWZZZYZoLjnnnvK3nvvXe68885y7LHHltVXX71MmzatHHzwwVVPrD322KNa19yg0+mb+/FOgAABAgTGK2A7AgQIECBAgAABAnUVqFUA6w9/+EO59NJLy2677bbE9pozZ04588wzy1ZbbVVmzJgxkH6NNdYoO+20U5k9e3Y544wzBpZ3Ov3AjswQIDCVAvZNgAABAgQIECBAgAABAl0oUJsAVnpbnXDCCeWss84qm2yySXnf+95XbrjhhmHJk/a0004rDz/8cHVbYWvPrGywxRZb5K0kzYMPPlj15sp8p9JXO6vNi4oQIECAAAECBAgQIECAAAEC9ReY3BouNbm769ze0vvqy1/+crWDm2++uRx++OFl3XXXLfvss0+56667quXNl9tvv71cfPHF1ceNNtqoem99WW+99arbDa+88sqStJk6mb513+YJECBAgAABAgQIECBAoE8EVJMAgVELH9alIwAAEABJREFU1CaAtcEGG1Q9rm666aZy8sknVz2ronDkkUeWXXbZpdxxxx35WE333ntvSZArPa9WXXXValnry4orrliWW265kicOZmD3Tqdv3bd5AgQIECBAgAABAgRGLyAlAQIECPSHQG0CWGmupZdeuqy55ppl1113rXpY5ba/lVZaqbqt8JhjjkmSakqQ65ZbbqmCVAlWVQuHeUnw6rbbbiudTj/Mrhe76LLLLium3jRYbMNaSYDAIAHnOee5QQeED50UkPcUCTjPOc9N0aFntwQmTcB5rjfPc2m3STtIxrCjWgWwWuvdaDTKq1/96nLiiSeWpZZaqnpP0Ko1jXkCBAgQINAeAbkQIECAAAECBAgQINBJgdoGsJpoCWK94Q1vqG4vvPHGG6vFedLgcLcOVitbXpImaTNlvmXVsLNJk7SZMj9sopaFSZO0LYtGNbvZZpsVU28ajKqB+zWRehMYIuA85zw35JDwkUDtBJznnOdqd1CrEIEhAs5zvXmeS7sNacqu+Fj7ANayyy5bXvKSl5SHHnqo5ImCUZ82bVp1q+Hdd99djYWVZa1TbhnMutyOmLSZMp9lGTurNW3mJ5o+ebRjkgcBAgQIECBAgAABAgQIECBQf4F+rGHtA1hp1LXWWqvMmDGj5OmC+Tx9+vSy8cYbZ7Zcf/311XvrSwJS+Zw0SZsp81nWifTJ10SAAAECBAgQIECAAAECkyZgRwQI9JhA7QNYjzzySJkzZ055/etfX574xCdWzdNoNMrMmTNLo9EoF110UUmaasXCl8xnWaPxWJpG47H5rEuahUmrf5nPskbjsTSNxmPzWZc0VeKFL5nPskbjsTQLF/tHgAABAgQIECBAoMcEFJcAAQIECEyeQG0CWNdee20VqMqtgq18v/zlL8sFF1xQ9txzzypg1Vy33XbblZ133rnMnj27XHfddc3FZd68eVU+O+64Y9l6660Hlnc6/cCOzBAgQIAAAQL9I6CmBAgQIECAAAECoxKoRQDrrrvuKnvttVfZZpttyk477VR+/vOfl7lz55ZDDjmk7L///uVrX/taWWeddQaBrLjiiuWoo44qK620UjnggAPKggULqvGwZs2aVQW6jjvuuLLyyisPbNPp9AM7MkOAAAECYxKQmAABAgQIECBAgACB+gvUIoCVQdY//OEPl2c+85nl3HPPLdtuu23VuypjX51++ukl418N15QZE+ucc84pDzzwQFlllVWqIFcGa0+Prawbuk2WdTL90P35TGCSBOyGAAECBAgQIECAAAECBAh0tUAtAlgRzi1+v/nNb6rxrDLO1FVXXVXe/OY3l/ScyvqRpvTMOvnkk6vt7r///qpX1mqrrTZS8irItWj69qUfccdWECBAgAABAgQIECBAgAABAlMsYPdTJVCbANZUAdovAQIECBAgQIAAAQIECIxBQFICBAiMQ0AAaxxoNiFAgAABAgQIECAwlQL2TYAAAQIE+k1AAKvfWlx9CRAgQIAAgQiYCBAgQIAAAQIEekhAAKuHGktRCRAg0F0CSkOAAAECBAgQIECAAIHJERDAmhxneyEwvIClBAgQIECAAAECBAgQIECAwBIFej6AtcQaSkCAAAECBAgQIECAAAECBAj0vIAK9LeAAFZ/t7/aEyBAgAABAgQIECDQPwJqSoAAgZ4VEMDq2aZTcAIECBAgQIAAgckXsEcCBAgQIEBgKgQEsKZC3T4JECBAgEA/C6g7AQIECBAgQIAAgTEKCGCNEUxyAgQIdIOAMhAgQIAAAQIECBAgQKCfBASw+qm11bVVwDwBAgQIECBAgAABAgQIECDQIwITCGD1SA0VkwABAgQIECBAgAABAgQIEJiAgE0JTL2AANbUt4ESECBAgAABAgQIECBQdwH1I0CAAIEJCQhgTYjPxgQIECBAgAABApMlYD8ECBAgQIBA/woIYPVv26s5AQIECPSfgBoTIECAAAECBAgQ6EkBAayebDaFJkBg6gTsmQABAgQIECBAgAABAgQmW0AAa7LF7a8UBgQIECBQW4HLl3t8MTFwDIzuGKjtiUDFCBAgQIBAU6CN7wJYbcSUFQECBAgQIECAAAECBAgQaKeAvAgQeFRAAOtRB68ECBAgQIAAAQIECNRTQK0IECBAoAYCAlg1aERVIECAAAECBAh0VkDuBAgQIECAAIGpFRDAmlp/eydAgACBfhFQTwIECBAgQIAAAQIExi0ggDVuOhsSIDDZAvZHgAABAgQIECBAgAABAv0pIIDVX+2utgQIECBAgAABAgQIECBAgED9BWpXQwGs2jWpChEgQIAAAQIECBAgQIDAxAXkQIBANwkIYHVTaygLAQIECBAgQIAAgToJqAsBAgQIEGiTgABWmyBlQ4AAAQIECBDohIA8CRAgQIAAAQIEShHAchQQIECAQN0F1I8AAQIECBAgQIAAgR4XEMDq8QZUfAKTI2AvBAgQIECAAAECBAgQIEBg6gQEsCbL3n4IECBAgAABAgQIECBAgACB+guoYUcEBLA6wipTAgQIECBAgAABAgQIEBivgO0IECAwVEAAa6iIzwQIECBAgAABAgR6X0ANCBAgQIBArQQEsGrVnCpDgAABAgQItE9ATgQIECBAgAABAt0iIIDVLS2hHAQIEKijgDoRIECAAAECBAgQIECgDQICWG1AlAWBTgrImwABAgQIECBAgAABAgQI9LtAPwSw+r2N1Z8AAQIECBAgQIAAAQIECPSDgDrWWEAAq8aNq2oECBAgQIAAAQIECBAYm4DUBAgQ6E4BAazubBelIkCAAAECBAgQ6FUB5SZAgAABAgTaLiCA1XZSGRIgQIAAAQITFbA9AQIECBAgQIAAgVYBAaxWDfMEOiyw8W2vLSYGk3QM9Pyx1uGvo+wJECBAgMC4BC5f7vHFxMAxMLpjYFxfMhsRGEFAAGsEGIsJlMKAAAECBAgQIECAAAECBAgQ6AaBzgawuqGGykCAAAECBAgQIECAAAECBAh0VkDuBDosIIDVYWDZEyBAgAABAgQIECBAYDQC0hAgQIDAyAICWCPbWEOAAAECBAgQINBbAkpLgAABAgQI1FRAAKumDataBAgQIEBgfAK2IkCAAAECBAgQINB9AgJY3dcmSkSAQK8LKD8BAgQIECBAgAABAgQItFVAAKutnDJrl4B8CBAgQIAAAQIECBAgQIAAgfoLjLaGAlijlZKOAAECBAgQIECAAAECBAh0n4ASEegLAQGsvmhmlSRAgAABAgQIECBAYGQBawgQIECg2wUEsLq9hZSPAAECBAgQINALAspIgAABAgQIEOiggABWB3FlTYAAAQIExiIgLQECBAgQIECAAAECwwsIYA3vYikBAr0poNQECBAgQIAAAQIECBAgUEMBAawaNurEqmRrAgQIECBAgAABAgQIECBAoP4CvVVDAazeai+lJUCAAAECBAgQIECAAIFuEVAOAgQmTUAAa9Ko7YgAAQIECBAgQIAAgaECPhMgQIAAgdEICGCNRkkaAgQIECBAYFQCG9/22mKadAPmPXrcjepLJREBAgQIECBQCQhgVQxeCBAgQKC/BdSeAAECBAgQIECAAIFuFhDA6ubWUTYCvSSgrAQIECBAgAABAgQIECBAoEMCAlgdgh1PtrYhQIAAAQIECBAgQIAAAQIE6i+ghmMXEMAau5ktCBAgQIAAAQIECBAgQGBqBeydAIE+ExDA6rMGV10CBAgQIECAAAECjwp4JUCAAAECvSMggNU7baWkBAgQIECAQLcJKA8BAgQIECBAgMCkCAhgTQqznRAgQIDASAKWEyBAgAABAgQIECBAYEkCAlhLErKeQPcLKCEBAgQIECBAgAABAgQIEKi1gABW1bxeCBAgQIAAAQIECBAgQIAAgfoLqGGvCghg9WrLKTcBAgQIECBAgAABAgSmQsA+CRAgMAUCAlhTgG6XBAgQIECAAAEC/S2g9gQIECBAgMDYBASwxuYlNQECBAgQINAdAkpBgAABAgQIECDQRwICWH3U2KpKgACBwQI+ESBAgAABAgQIECBAoDcEBLB6o52UslsFlIsAAQIECBAgQIAAAQIECBDouMCUB7A6XkM7IECAAAECBAgQIECAAAECBKZcQAEITERAAGsierYlQIAAAQIECBAgQIDA5AnYEwECBPpWQACrb5texQkQIECAAAEC/SigzgQIECBAgEAvCghg9WKrKTMBAgQIEJhKAfsmQIAAAQIECBAgMMkCAliTDG53BAgQiICJAAECBAgQIECAAAECBEYvIIA1eispu0tAaQgQIECAAAECBAgQIECAAIH6C1Q1FMCqGLwQIECAAAECBAgQIECAAIG6CqgXgd4XEMDq/TZUAwIECBAgQIAAAQIEOi0gfwIECBCYUgEBrCnlt3MCBAgQIECAQP8IqCkBAgQIECBAYLwCAljjlbMdAQIECBCYfAF7JECAAAECBAgQINCXAgJYfdnsKk2gnwXUnQABAgQIECBAgAABAgR6TUAAq9darBvKqwwECBAgQIAAAQIECBAgQIBA/QW6qIYCWF3UGIpCgAABAgQIECBAgAABAvUSUBsCBNojIIDVHke5ECBAgAABAgQIECDQGQG5EiBAgACBIoDlICBAgAABAgQI1F5ABQkQIECAAAECvS0ggNXb7af0BAgQIDBZAvZDgAABAgQIECBAgMCUCQhgTRm9HRPoPwE1JkCAAAECBAgQIECAAAEC4xEQwBqP2tRtY88ECBAgQIAAAQIECEyhwMa3vbaYGDgGRncMTOFXtQ67VochAgJYQ0B8JECAAAECBAgQIECAAIE6CKgDAQJ1EhDAqlNrqgsBAgQIECBAgACBdgrIiwABAgQIdImAAFaXNIRiECBAgAABAvUUUCsCBAgQIECAAIGJCwhgTdxQDgQIECDQWQG5EyBAgAABAgQIECDQ5wICWH1+AKh+vwioJwECBAgQIECAAAECBAgQ6F0BAazRtp10BAgQIECAAAECBAgQIECAQP0F1LArBQSwurJZFIoAAQIECBAgQIAAAQK9K6DkBAgQaLeAAFa7RYfkd+utt5Y999yzLL300tU0c+bMMm/evCGpfCRAgAABAgQIECAwSMAHAgQIECBAoEVgqZZ5s20WmDt3btlyyy3LNddcU+bPn18WLFhQVl555bLDDjuUrGvz7mRHgAABAgQIDBLwgQABAgQIECBAoC4CAlgdasl77rmn7L333uXOO+8sxx57bFl99dXLtGnTysEHH1z1xNpjjz2qdR3avWwJECDQHgG5ECBAgAABAgQIECBAoAsEBLA61Ahz5swpZ555Ztlqq63KjBkzBvayxhprlJ122qnMnj27nHHGGQPLzdRXQM0IECBAgAABAgQIECBAgACBiQn0QgBrYjWcgq0feeSRctppp5WHH364bL755mWZZZYZVIotttii+pw0Dz74YDXvhQABAgQIECBAgAABAgQI9LmA6hMYUUAAa8Onf4MAABAASURBVESa8a+4/fbby8UXX1xlsNFGG1XvrS/rrbdeFdS68sorS9K2rjNPgAABAgQIECBAgACB8QvYkgABAvUUEMDqQLvee++95eabb66CVKuuuuoie1hxxRXLcsstV/KEwgzsvkgCCwgQIECAAAECBKZOwJ4JECBAgACBrhMQwOpAk9x0003llltuqYJUCVaNtIsEr2677baRVltOgAABAgR6VkDBCRAgQIAAAQIECLRTQACrnZqTlNfzn//8YupNg3V/fVoxMRjlMdD3x4rznPOc74rzZd2PAec557m6H+Pq5zzuPNeb57m02ySFN8a0GwGsMXGNLnGeNDjcrYNDt06apB263Od2CciHAAECBAgQIECAAAECBAgQqIPA4gNYdajhFNRh2rRpZc011yx33313NRbW0CLkFsOsS5qkHbp+SZ8vvfTSYmLgGHAMOAYcA44Bx4BjwDHgGHAMOAYcA207Blxnus5uOQaWFJeYivUCWB1Qnz59etl4442rnK+//vrqvfUlAax8TpqkzbyJAAECBAgQIECAAIHeFlB6AgQIEOicgABWB2wbjUaZOXNmaTQa5aKLLiqPPPLIwF4yn2WNxmNpBlaaIUCAAAECBAj0t4DaEyBAgAABAgSGFRDAGpZl4gu32267svPOO5fZs2eX6667biDDefPmlTlz5pQdd9yxbL311gPLzRAgQIAAgfYIyIUAAQIECBAgQIBA/QQEsDrUpiuuuGI56qijykorrVQOOOCAsmDBgmo8rFmzZlU9s4477riy8sord2jvsiVAYEICNiZAgAABAgQIECBAgACBrhIQwOpgc6y33nrlnHPOKQ888EBZZZVVyjrrrFMN7n7BBReUrOvgrqc8awUgQIAAAQIECBAgQIAAAQIE6i8wWTUUwOqwdIJWJ598cjUO1v3331/1ylpttdU6vFfZEyBAgAABAgQIECBAgECPCCgmAQKjEBDAGgWSJAQIECBAgAABAgQIdLOAshEgQIBA3QUEsOrewupHgAABAgQIEBiNgDQECBAgQIAAgS4WEMDq4sZRNAIECBDoLQGlJUCAAAECBAgQIECgMwICWJ1xlSsBAuMTsBUBAgQIECBAgAABAgQIEFhEQABrEZJeX6D8BAgQIECAAAECBAgQIECAQP0F+quGAlj91d5qS4AAAQIECBAgQIAAAQJNAe8ECPSMgABWzzSVghIg0K0CDz74YNl7773LCiusUE4//fSBYj7yyCPl6quvLm95y1vK05/+9DJ//vyBdWYIECBAgEBdBNSDwEgCf/vb38qhhx5anvnMZ5bLLrtspGSWEyBAYFQCAlijYpKIAIHJEkiwp9FolEZjdNM73/nOySramPbz0EMPleOPP768733vKyeeeGK57777xrS9xAQIdJdAgtONxvDnpaybYGltToAAgY4I5PzUaCx67vr0pz9d7rzzzrL99tsP+5sr2zULlD/ArbfeeoPSZbts30wz3Pv5559f3vOe95QPfehD5YYbbhguyaiWJfA1bdq0QftvNAbXaemlly4bbrhhOeCAA/zBcFSqEhHoTQEBrN5sN6UmUFuBE044ofpB9aY3vamq43bbbVf+/ve/l/Rmap3yo+kTn/hElWaqX5ZZZply1FFHlXvvvbe86lWvqoqTH1Jve9vbynHHHVfWXnvtapmXTgrIm0BnBfLdvv/++8snP/nJgR197GMfK1mWdQMLOzTzwx/+sPzv//5vh3KXLQECdRXI+SnBoy222KKq4korrVTmzJlTPvjBD5aVV165/PSnPy3f/OY3y1JLPXpZuPXWW5f0msp21QYLX9Zcc83yxz/+sXzta1+r0h188MHVdtl+4eoR/+U33Je//OWyzTbbjJhmNCs222yz6rfh+QsDYil/tjnkkEMGfhvmPPyrX/2qPP/5z6/O0Qm2nXrqqUlmIkCgZgKPnqlqVinVIUBgHAJdtEn+yvaiF71osSVKmty2t8kmmyw23VSvTCAr01SXw/4JEJi4wLLLLlte+tKXllxAZXrFK15RsmziOS8+hwceeKB8//vfLw8//PDiE1pLgACBYQTWWWedsv/++1drMtzBE57whGo+L/mNsvvuu5d3v/vd+Vge//jHV+e46kPLS9I9+clPLjnvzZo1q+Rzy+oRZ/N7rR1/yGs0GuV5z3te2XzzzRfZV87Dz3nOc6pAXIJrOWfus88+5U9/+tMiaS0gQKC3BQSw2th+siJAoH0Ca6211hIzW2WVVcp//Md/LDGdBAQIEOhlgR/96EdVAKuX66DsBAhMrUB6YGUcqltvvbX87Gc/G1SYRqNR/vVf/7Ust9xyJT2ZbrrppkHrmx/OPffcKoi/4oorNhct8b3RaJT0VF9iwjYkaDQaZebMmSWBthtvvLFccMEFbchVFgRGFrBm8gUEsCbf3B4JECBAgAABAqMS+M1vflP23Xffcvfdd48qvUQECBAYTmCNNdaogjtZ973vfa/cc889mR2YNt544/KCF7yg/PnPfy5nnnnmwPLmzF/+8pfyi1/8orzkJS9pLmrHe9vzSBCu2Tssw020fQcyJEBgSgUEsKaU384JEBivQMZvmD179qDN77jjjmrg9A022KBkcNL8OPvMZz5TdYVvNB7962LSZCytc845p+THWqPRKKuvvnpJD4dBmS38kB9qL3zhCwcGDc2Pv49+9KOL/OjLj7o8YSf5tA56ujAL/wgQ6BOBPLghf+3PX/9zm2EunDJeS/M886xnPatcfvnlgzRym8thhx1WVl111eo8k3PM61//+vL+97+/Spdz3JZbblmNPZMAVsZ3aTQaJQ+7qBIsfBnteWph0urcdeSRR1bj8jUajWqfjcbg95zDUq6f/OQn5eUvf3l5+9vfXnLe3H333auxb3LrUJ68mvPod7/73ZIeHY3Go3nMmDGjGvcvFtlfpqHnxwULFpTc2pMLzEwZ3Dn7yzYnnXTSQNmG80p+pqECPhMYvUDOTQnw/PznPy9XX331oA3/+te/lmuvvbZadsYZZ1Tni+rDP14yBl/GlspA6f9YVJrf23z3G41GdVvhO97xjpIgWBnhv9bzYn435XuffEZIPubF5513Xknvq+nTp5ehw1HcddddZb/99hs45+YclDG/UrfWHWXMsAwG/8x/PDkx9cm5Pelz+/j//M//VONvNbcZa/rmdmmDjBOWfBuNRhVAzDm9uT4uF198cXXOT9tlbLKMXZbxyl7zmtdU44I103on0C8CAlj90tLqSaBGAvkfeH48ZND0ZrXyoytP/fv4xz9e/vCHP5Tbbrutur0wT//7/Oc/X572tKdVYyMceOCB5YQTTigJbP37v/97yWDx+dG2xx57lNaxEnLhuO2221Z/acyFYy7g8iPjoIMOqoJjzf1eeuml5Stf+Ur51Kc+VZJPc7l3AgR6RKANxcxFxne+851yzDHHlJNPPrm68Dv66KPLl770perpW3mgw29/+9uy1157VcGg5i4zuHHSXHTRRdX4Vj/+8Y/LFVdcMXAu2Wmnnar0b37zm6tAfM43CRzlHJY8RnueStoEiXLLdc6BOWclCHXWWWeVXORlfXNA5O23377k/HrEEUeUrM/5LwPXJxCVfWeft99+e/niF79Ydtttt/Le9763JK9cwD35yU8u73rXu8opp5ySLEvKm301z4/XX399FRDLHxlyDs4A0Nnvf//3f1fn0O9///slA+On3sN5VZl6IUBg3AKbbrppefGLX1z16EywujWjfLf/6Z/+qWTA9twq2Bpwz3f8xBNPrILazdsBc07JuFk5911yySXVAy0++9nPVn9IzDhZN998c2v21fy3v/3t6rdZbmdMWfK76f/9v/9XEsjP+aVKNMqXDNzeuk1+G+aBOgm6J4sEoFKfzGfKHzV3XxiIT8DsvPPOq865zYdjZMD65m/AnLdybv7c5z5XPTkxT0B85zvfWfIbMH+sbDQaJYH8nLeT71jTZ5tM+QPAa1/72uo3Zepy4YUXlgTK0j5nn3125fmNb3yj5P8lsU/5c97NLZ6NRqMaiD/n3eRlItBPAgJY/dTa6kqgBwXOP//88rjHPW5QT4HVVlutCka1VicXRLk4y1/+sjz/U88PqfyAyQVVfjTlr2a5WMzgpekev+eee1bBrLe+9a3VX+ta/wL39a9/vaywwgrlda97XclYDxnUNPk0Go1yzTXXDPzlLT0i8te8/FjLfvtxUmcC/S6Qv57nr/PpTZTzS277y0DDeWJXxpXJxVnOFb/+9a8HejikJ0Au/F75yleWZzzjGdU5Lhd0xx9/fMmgx6MxHe15KnnlSWM5/yVon7/kp8x5z3kz63PxmjLlfJseUqlLLlQzVs7uCy/60ms1F7SnnXZadW781re+VTIwdC78klfm3/a2tyWrqsdYZlLn1vNjLlZjkvwT+Mp80sUnZcl5OufwPD0sF4tXXnll+f3vf58kJgIE2iCQ3zM55ySrBJpvueWWzFZB9/S6Su+efBcTUMnnauXCl/ymythZL14Y/Fr4sfqXIE96CyUAnZ5UGUg9fxjM76b8nsryKuE/XhIMz++wX/7ylyXbJhDz1a9+terZ+dGPfrQae+sfSUf1lmB8eiI1Go/2AM1vw+w/PVrPWxiget/73ledV5uZpbdTzmPbLwzSZ8D3RqNRMp8pdWtaNM9bWZ4yJxCXWy7f8573lOSZ4FV8cm5M3mNNn23+7//+r+qJ+oUvfKGkl23OoXlPsD+Bwfx2TcAqf7w4aOEfTvPHgZx/0zM15+rf/e53JXVJD7HkZyLQTwICWP3U2urarQLKtRiBXMT8/e9/rwJG+UtbpvzI2HXXXYfdKj8CsuLZz3529SSdzGfKoPD5cZMpF5aNRiOLqx83zR8ACUxVCxe+pIt8fgTlYm7hx+pfPufHX7qm50KvWrjwpdGYvAFKF+7OPwIEulQgvZnSqyh/9c9YMs1i5tyx0UYbVeex5pMEc65afvnlqx5b6XXVTPvc5z635PzV/Ly497Gcp3KxmPPn0KeB7bjjjtUAy+lhkfXN/eVcl1uNcsGaMjUajZKLvvyxIMH9ddddt7r9Omma2+Q8m/lcXOU9U6Px2Plxs802q/4gkOWZUpZc0K6//volF2ZZlimGuVUpF3DpkZBlJgIE2iOw8847V7fqJtCe3kPJNT3XEzhJMCbB+EajURJITs/LrM8txfnuJ1CVz7lFOkHsDLOQW5+zLFOC3vmNlfkM9dD6Wynf9QS8E+jK+kbj0aEdXv3qV1c9wtLrKMtHO6X3Zs5ZmRJQSrB7r732Kgk4JfiUwHt6zzfzy++/lD/BoOaynMuyfOi5prk8Zc6t1M0yZ7sEmvKenrd5zzTW9AkOZpucW7N9c8rv0ewzwbbrrruuWtw8F+f8m/N1FqYt8rnRePS3bJaZCPSLQE0CWP3SXOpJgEAEnvjEJ1a3qbT+oMjydk7569e8efPK05/+9JJu6ek2nh8x+WtcO/dwOG+cAAAQAElEQVQjLwIE+keg9SIpFy+52Jo/f35Jz6v8pT2BnwRvsnw0KuM5T7VedGUfzYujXHg2GoteDA23PMtyS0t6UuR8nN4Z6ZmQC9/kaSJAoHsFnvKUp5RtttmmCqin12MCQLmVLoGZBNsTxEpAOeej9KTKeSsBl9zu1mg8eo7IHxZzy116UjUajeqPgY3Go+/pdZna54+CGfMu8yNN+R2XsmR9gjZ5H8+UfBLQz+3P6dmanlmpW8qS4HzyTFA8Zc4YqTkPZszC/K7LuSzrxzrFZyzbtKZPXf/4xz+WBNMajUfdGo1GiX1+Z8Y3t1y35p8/ejQajdZFfT6v+v0qIIDVry2v3gR6XCB/hXrZy17W0VokgJUxXjbZZJNqP7ndJX8Zqz54IUCAwAQF0hshvSDSAyHnl/z1PYO459wz2qyTdjTnqfSkSm+p3PaSC9Jm/rmtL58zkPFob11sbpuLsPTAyFPJcp7MxWxznXcCBLpTIAHoPAiisTAYktvR0gM0vZ9y62BKnB5JCVYlsJXx9rI+vbOaPauS5qabbirpDb///vtXgbCkHTrNnTu3Gk8r6Rc3JfC0uPVjXZfBzXMbY7bLmIQJpGU+UwJXGQMrQbyMmfrhD3+4ZAyurJusKb3XYpNgVW5dHOrW/Jz/P0xWmeyHQC8JCGD1UmspKwECkyaQrvPpop2/QqZr/Qc+8IGSH3WTVgA7IkCgLwTygImMK5VByxPIylgrO+ywQ8kFzpIAxnKeSu+Kgw8+uORWoAxOnAvSBL+yLD3AMr7LkvbXXJ8LrIxble0yuHGCcG9961tLeo810/TDuzoS6FWBBE/y+yZDIqRH0iqrrFL1BG3WJ+NkJeCdsaTyIJycP5KmuT63Daa3VgY4TwC8uXw8781eWhkLcDzbD90mAbpmsC0P+0mPpqTJ7YSpV3qu5gEVP/rRj8pWW21V3UKd9ZM15Q8FuX06Dx+K/2Tt134I1EVAAKsuLakeBPpUIH/JytOs8iOlXQT5QZEBhtOjYNasWYPGbGnXPuRDgEDpa4Kcuw4//PDqCX6ByMVbAlK55SU9BnKBleUjTWM9TzUaj443k54J3/zmN0suTjP2VPabh1pkbJiR9jV0ecbTygDKCbilJ0dubRmaxmcCBLpXIH+Qa44lmrGstt9++0G/dTJmX8Znyhh0eVrh0N5AGR80D25ID66cP4bWNAHyI488snqK6tB1Qz+nJ2fOR+klOnTdeD4nwJ7bmrNtHsCTQFvm85TYnFfzpNPRjjOY7do9NRqNkl5neZprBnGP1dB95JbN5vhkQ9f5TKDfBQSw+v0IUH8CXSqQ7ulLKlp+pOQpN9OnT6+eirWk9KNdnx9sua0mF5gZGLS5Xbp6D/3cXDc17/ZKgEA3CeT2lEyjLVOeDHjhhRcOJE8gKLdG531g4T9mcu5p9nRI76xMYzlPpffBHnvsUfbee+9y1VVXVbf9JM/jjjuuGoflH7tZ5C2DMDfHkGmuzPk5vRpyjmxefOV8nMGTm2nyORdozc/eCRDoLoEEpTIsQp6cmtuAW0uX3lYJdmdZxqhKQCvzzSnr0+syD6X4l3/5l5IB1XOOyfoM/J6nm952220l6bJspOm6664rCaAlEJ5eYSOlG8vyjM33jW98o9okt0LmgRP5kEBZ3lOuvGfKObX1PHXfffdVA8rn/DX0vJf0I01jTZ/gYYKIOf9m7MD0xkoe+WNsxuRK8C9Brtb95VzcPN+2LjdPoN8EBLD6rcXVd7CAT10pkEHTc2GXwiWY1Oxens/NKT+U8oPpiCOOKBm7JcvzQyQ/XDKfW1ryOfOZMlhmxmvIlPksy5QfBP/3f/+X2dLcZsaMGSW3D+aWnvwwy7gub3rTm8qXvvSlKl0GAU3PiQwUmgW5iGz+MMpYEa0XsMkzdRi632xnIkCgtwRy8fDjH/+4usBJACfzWZZa5OIjt9MkuJPzQet5ZqRzRM4/GfMqt7Ikn5zrjj322JKeUQlkJd9MuQjMxdSnPvWpknNPxqXJrYdjOU9lwOIM1JzeBzmn5fzVnHKbUOtFXM5hSZ86ZsysK6+8MsUYmPJwi/TYSv3f/va3ly9+8YslF7u5PTGJUv+MLXPRRReVkeoerzw1LOfp9JbIYPbZNlMCYU2/oefUrDcRIDBxgQSlEpxKz6ehwZLknqcV5g+E+W7nYQ9Z1jrl99Euu+xScu760Ic+VJK20WhUAfF8txPEaqbP9jmf5Jbjyy+/vOQck99SeXhFzifpSZ+B2Jvph3vPOSO9P5u/8xJAT8CnmTa/HXNu22mnnUrOZwmI/dd//dfALYLbbrttlfSDH/xgyXkwt09n/Kucs7MivZ5Sj/yxMueknM9T5rynvEmT95wbM59zVNJmfqzpY/+Rj3ykZLD53DYe/8zHKW4Znyvn/dT5kksuKfkdmfNwzsdZln2aCPSrwIQDWP0Kp94ECHRGIH+Fy1+lTjnllGoHeWpLxgpoNBqDnnKTH0oZPDQDCOd//PmBke2++93vVtvlAi+fszx5JsiVHyKZMp9lWZeLsAyenI2yTQZRTq+E5vy5555bMl5MfnQ1fxjlguxJT3pSSW+GdK1PHs2u3rloy18y88Mq40pkPvm17jf7MhEg0FsC+a7nNpdcEDVLnvksy7r0Rnjta19bcnGRc8RznvOckvNM1g13jkjwKr0fcsGSQYeTT251SaDqnHPOKXliVvnHfxmDL+e63KqT4FCe+JcxaEZ7nko2ud0nU4JVOZ+lB0BzygVs9p0Lu/ROyHlrn332yWZVAGqzzTar6lItWPiS2w6PP/74kvNgek+kt0Oe1JpxsXJrzty5c8uLXvSi6sJ2aN0TnMstktlnLh7jlQvBXMTmnBmv1G3OnDkL91RK6zm1WuCFAIG2COTc84Y3vKEkCJVxo4ZmmgB51iUgNHRdPifAkt5CuQ1urbXWyqIqiJXzSMb1y/pq4cKXo48+uiRAlPGfcj7J/vIEwPQIzfLWtAuTL/Ivv9cyxt52221X/QEhCT7xiU9Utz02Go/+PsxvvgR/MrZXzkkJ9uScl7SZEizbb7/9SoJe2Tbn6a9//eslt0Mvv/zy1R8xM3xEnryY829+f2a7Pffcs/qjQoJnOX/lj6dZnnNUBoPPb8SxpE9dGo1G+bd/+7eS35gZXyz5JYD1ile8olx88cXlBS94QRaVt771rSX/X8nvyEyZz7kzvzGrBFP0YrcEplJAAGsq9e2bAIFFBHJBlgua0U7pQZAfQvlBlAvC1u3yOcuHyzPLsi5pWrfJhdeaa65ZNt100+rHTNbldpv8aMqPp1xAJhj17ne/uwqopQt+0rRO5513XjWYcX7EtS7PfPa7SKUtIECg6wWG+67nO50p6/LdznzrlGVZ17os8zlHJEiT88n1119fcmGS5fnr/re//e3SetEVmHzOX/2TJj1BcxGY5aM9TyVtLkZz3krvh1w05Y8EzSkXl7lQzcVogkkpX/bVOqUuyac55eIzPaWSJheKCUClnOkxleVZP1zdc47NHx2G20fOmcNtk7Q5/zb37Z1Ajwt0TfHzh7jdd9992PKssMIKJbe4JWgzbIKFCxME+/d///eSMflyLkgAPAGe5jlqYZLqX26LTo+uBH1ynkva9HLfbbfdStZViRbzMtzvteQxdEpgJz0/ExxP2VqzTA+v9GLN/nPOTeAp5cw5J0GtnMdyDsvnofnmvPW85z2verhG67r8htx3332rP1y0Ll9c+tQl5Wo0GiW9wnIbebZNudJLNufSrM+U827WtU7Oh5Ex9bOAAFY/t766EyBAgAABArUXyC0+uch66lOfWtIzbPvtt696XSRolSlPIEwwK70xMqZN94MoIQECBAgQINCPAgJY/5+9e4/dcvzjAH49/ZzSYQnJYWPm2GrYmrEhk7T8YcianBKtydiQ8AfDPywsW435o2aFmS3msFkbrVqTiVmF5JQsh8wkFlHKz+dq33yl0/f5Pqf7fl6b+/k+z324ruvzuvrr7b6vux1nXc0ECBAgQIBA2wjEo9WxtlbcZRD/J39XhcdagHFs8ODBuzpsHwECBAgQKIeAKgotIMAq9PQZPAECBAgQIEBgzwLxCFCsMTN+/PgU68PEOi+xdlU8gh1vco01uKZMmZLXm9r5sZs9t+woAQLtKKBmAgQINEtAgNUsef0SIECAAAECBBogEAsCx+Lvseh83IUVa7/EG8RinZhXX301TZw4McXi6QMHDmzAaHSRUoJAgAABAgQIVCEgwKoCzSUECBAgQIBAMwX03VWBeDlFvHlrzZo1OxYcjoWM582bl2Jx5X1ZSLmrfTqfAAECBAgQIFBLAQFWLTW1RYAAgaIIGCcBAgQIECBAgAABAgQKJCDAKtBkGWprCRgNAQIECBAgQIAAAQIECBAg0BiBZgZYjalQLwQIECBAgAABAgQIECBAgEAzBfRNoNsCAqxuE2qAAAECBAgQIECAAAEC9RbQPgECBNpbQIDV3vOvegIECBAgQIBA+wiolAABAgQIECisgACrsFNn4AQIECBAoPECeiRAgAABAgQIECDQDAEBVjPU9UmAQDsLqJ0AAQIECBAgQIAAAQIEuiggwOoimNNbQcAYCBAgQIAAAQIECBAgQIAAgfIL/FOhAOsfC98IECBAgAABAgQIECBAgEC5BFRDoCQCAqySTKQyCBAgQIAAAQIECBCoj4BWCRAgQKD5AgKs5s+BERAgQIAAAQIEyi6gPgIECBAgQIBAtwQEWN3iczEBAgQIEGiUgH4IECBAgAABAgQItK+AAKt9517lBNpPQMUECBAgQIAAAQIECBAgUEgBAVYhp615g9YzAQIECBAgQIAAAQIECBAgUH6BVqtQgNVqM2I8BAgQIECAAAECBAgQIFAGATUQIFBDAQFWDTE1RYAAAQIECBAgQIBALQW0RYAAAQIEtgsIsLY7+CRAgAABAgQIlFNAVQQIECBAgACBEggIsEowiUogQIAAgfoKaJ0AAQIECBAgQIAAgeYKCLCa6693Au0ioE4CBAgQIECAAAECBAgQIFC1gACrarpGX6g/AgQIECBAgAABAgQIECBAoPwCKtyVgABrVyr2ESBAgAABAgQIECBAgEBxBYycAIHSCQiwSjelCiJAgAABAgQIECDQfQEtECBAgACBVhIQYLXSbBgLAQIECBAgUCYBtRAgQIAAAQIECNRIQIBVI0jNECBAgEA9BLRJgAABAgQIECBAgACBlARY/hUQKLuA+ggQIECAAAECBAgQIECAQMEFBFj7MIFOIUCAAAECBAgQIECAAAECBMovoMLWFRBgte7cGBkBAgQIECBAgAABAgSKJmC8BAgQqIuAAKsurBolQIAAAQIECBAgUK2A6wgQIECAAIGdBQRYO4v4TYAAAQIECBRfQAUECBAgQIAAAQKlEhBglWo6FUOAAIHaCWiJAAECBAgQIECAAAECrSIgwGqVmTCOMgqoiQABAgQIECBAp3qZ8QAADmZJREFUgAABAgQIEKiBQIsHWDWoUBMECBAgQIAAAQIECBAgQIBAiwsYHoE9Cwiw9uzjKAECBAgQIECAAAECBIohYJQECBAosYAAq8STqzQCBAgQIECAAIGuCTibAAECBAgQaE0BAVZrzotRESBAgACBogoYNwECBAgQIECAAIGaCwiwak6qQQIECHRXwPUECBAgQIAAAQIECBAg0FlAgNVZw/fyCKiEAAECBAgQIECAAAECBAgQKI3AbgOs0lSoEAIECBAgQIBAiwv89ddfaeXKlWncuHFp5MiRaePGjS0+4uqGt3Xr1rRkyZI0atSodOGFF5a2zup0XEWAAIHmCeiZQBEEBFhFmCVjJECAAAECBAolEIHUO++8k6688srUv3//VKlU8nb00UenyZMnp7Vr16Y4/tRTT6XNmzen+Bv758yZk/74449C1bqvg/3tt9/StGnTcv3z5s1Lf/75575e6jwCRRAwRgIECBCos0CPOreveQIECBAgQIBAWwmsW7cujR49Op199tnpgAMOSIsWLcphTYRaK1asSIMGDUqDBw9OZ511Vlq/fn0+Z9KkSTncibCrrFgHH3xwmjJlSpo+fXrq2bPnLsq0iwABAgQIECCwewEB1u5tHCFAgAABAsUSMNqmC3z11Vf50bhXXnklPf/882n27NlpyJAh6X//+18e26GHHppuvPHGFEHWiSeemD755JO8Pz769euXevfuHV9LvfXo0SPfjVbqIhVHgAABAgQI1FygR81b1CABAgQKLGDoBAgQqFZgy5Yt+Q6jjz76KN16661pzJgxuw1qjj322DRr1qzUq1evartzHQECBAgQIECgrQQEWG013Q0pVicECBAgQKAtBebPn5/mzp2b4k6qCRMm7Da86sCJRwzjUcJff/21Y5e/BAgQIECAAIEiCTR0rAKshnLrjAABAgQIECijQCxIHo8LxjpXEUrFHVZ7q3O//fZLN998827vwlq0aFE69dRTcxAWf5ctW/afJt9666281lalsn2R+COOOCI9+OCDadOmTTvOjTvDXnvttTRixIh0ww03pBjjCy+8kGJB+Uqlks4777z09ddfV31+x4XR56OPPppiDJVKJcWaV/fcc08S0HUI+UuAAIFdCdhHgMC+CvTY1xOdR4AAAQIECBAgsGuBH3/8MS1dujQfPP7441OfPn3y92o+tm3bltfOeuaZZ9K9996b32S4atWqdNNNN6Wff/55R5NvvPFGDp+GDx+e4g1/cWzYsGHpgQceSFOnTs3nxf6nn346v+XwzTffzOfF8QULFqRHHnkkXXzxxWnx4sX50ccI4bp6fu7k74/o+5JLLknffPNNWr16ddq4cWOaOHFiHsd11133r0Dt79P9R6C2AlojQIAAgbYQEGC1xTQrkgABAgQIEKinQLxNcMOGDbmLk08+Of+t9mP58uUpQrCZM2emq6++Oj355JNp6NChaeXKlWnNmjU7mn322WfTQQcdlC677LL8Vr++ffvm0KhSqaTPPvss32kVd0FFkHT77bfnO7nef//9NHbs2BxoRdszZsxIAwcOTEuWLEk//PBDvmuqK+fHYOKOrvvvvz8vVP/www/nO8piba/YF+N+6aWXUixqH+faCBAgQIAAAQLVCgiwqpVzHQECBAgQ+EfAtzYXiDuXfv/996zQ8cbB/KOKjzPOOCOde+65O6485JBD0qBBg9LWrVtT3CXVcSDeYhjHOt/tFb979uyZ74Tq/Ohex/5Yd+uUU07paCINGDAgReAWbcfWcaAr53/77bfp5ZdfThdddFEO0jq3EeOO33H3V/y1ESBAgAABAgSqFRBgVSvnOgIEaiygOQIECBRXINZ9itAnKoi7n+JvrbfNmzf/61G8eLww1q466aSTUjzCGI8Ejho1Kj8m2NW+f/rpp/T999/v82Wdz1+3bl2+e2vy5Mn5Lq9KZft6XJVKJc2ZMye3+fnnn+fHCvMPHwQIECBAgACBKgQEWFWgtewlBkaAAAECBAg0RSDePHjCCSfkvr/77rvUcTdW3lGjj7j7KoKjzs1FgDVmzJg0ZMiQvDvWzYrHBvOPBn3EHVhxB1o80hiPE+5qW7hwYerdu3eDRqQbAgQIECDQBgJtWKIAqw0nXckECBAgQIBAbQUinLniiityo7HOVIQ6+UcdP2JtqQjN4g2FX3zxRbrrrrvSYYcdVsced910rKEVjy2+/fbbKcKrXZ9lLwECBFpPwIgIECiWgACrWPNltAQIECBAgECLClx66aUp1peKR+rizX97C3O2bNmSHnvssVRN2BVv+7vjjjvynVe33Xbbv9aeajRPhGb9+/dPzz33XHr33Xf/0328ofDxxx/Pa3j956AdRRcwfgIECBAg0DABAVbDqHVEgAABAgQIlFngmGOOSbNnz07xOOFDDz2Uv+8uxIrwavr06em0005LRx11VGaJRdRji8XX43jeuZuPCMnirYEbN25MsTZWx2nr16//z+84tm3bti7dHdWV84877rgUd59t2LAhjRgxIsWjhPEIZdQea19df/316cgjj8xvKYyx2AgQIECAAAEC1QgIsKpRcw0BAgQItI6AkRBoIYEzzzwzvfjiiynuSBo/fnwaOXJkWrx48Y41sSLYid+XX355ircNRuATw4+wJ/bH3VgrV65MscX+2CKo6vi9fPnyfCdThEbx+OCqVavS2LFj06xZs9K1116bZs6cGZekL7/8Mk2bNi3NnTs3nx9tb9q0Ka1YsSK/oTCf9PdHrKH16aef5sXh42+MI0K0rpxfqVTSnXfemYYOHZp++eWXPI54pLBHjx4p3pR4+OGHp9GjR//dW8oh2gcffJAXml+7dm2K9cLyAR8ECBAgQIAAgb0ICLD2AuQwgXYQUCMBAgQI1E7gggsuSGvWrEnxGGHcKXX++efnR/wqlUoOeZYuXZoft4vzOnqNu5SuuuqqHPDEgujnnHNOGjduXJo6dWoaMGBAeu+99/Kp9913Xxo+fHg68MAD8x1e8cjiggULUjyiN2HChBxkRSgWoVcERxFuxfnxhsBoYNmyZSnuFIt2Y4v1syJEiuAq+r/mmmty+/t6fow72o0258+fn9fh6tevX+zKd5bNmDEjPfHEE2n//ffP++L8CPbix+rVq1O8QTHGEb9tBAgQIECAAIE9CQiw9qSz78ecSYAAAQIECBDYIdCrV68UYU3c8RR3NEVAFNuHH36YIhzq27fvjnPjSzx6GMc7b7Hv7rvvzqFW5/0LF25/o9/pp5+ePv7443w82h02bFh+09/rr7+e73CaNGlS6tOnT4rzO18f36Pd2OJ75y3WserK+THGGH9sUVOEUfGmxGgz1um65ZZbdoRXcU6cH8c6bzGOOGYjQIAAAQIFETDMJgkIsJoEr1sCBAgQIECAAAECBAi0p4CqCRAg0HUBAVbXzVxBgAABAgQIECBAoLkCeidAgAABAm0mIMBqswlXLgECBAgQILBdwCcBAgQIECBAgEBxBARYxZkrIyVAgECrCRgPAQIECBAgQIAAAQIEGiIgwGoIs04I7E7AfgIECBAgQIAAAQIECBAgQGBvAsUPsPZWoeMECBAgQIAAAQIECBAgQIBA8QVU0NYCAqy2nn7FEyBAgAABAgQIECDQTgJqJUCAQFEFBFhFnTnjJkCAAAECBAgQaIaAPgkQIECAAIEmCAiwmoCuSwIECBAg0N4CqidAgAABAgQIECDQNQEBVte8nE2AAIHWEDAKAgQIECBAgAABAgQItJGAAKuNJlup/xbwiwABAgQIECBAgAABAgQIECiGQHcCrGJUaJQECBAgQIAAAQIECBAgQIBAdwRcS6DpAgKspk+BARAgQIAAAQIECBAgUH4BFRIgQIBAdwQEWN3Rcy0BAgQIECBAgEDjBPREgAABAgQItK2AAKttp17hBAgQINCOAmomQIAAAQIECBAgUEQBAVYRZ82YCRBopoC+CRAgQIAAAQIECBAgQKDBAgKsBoPrLgRsBAgQIECAAAECBAgQIECAQPkFalehAKt2lloiQIAAAQIECBAgQIAAAQK1FdAaAQJZQICVGXwQIECAAAECBAgQIFBWAXURIECAQPEFBFjFn0MVECBAgAABAgTqLaB9AgQIECBAgEBTBQRYTeXXOQECBAi0j4BKCRAgQIAAAQIECBCoVkCAVa2c6wgQaLyAHgkQIECAAAECBAgQIECgLQUEWG027colQIAAAQIECBAgQIAAAQIEyi9QtgoFWGWbUfUQIECAAAECBAgQIECAQC0EtEGAQAsJCLBaaDIMhQABAgQIECBAgEC5BFRDgAABAgRqIyDAqo2jVggQIECAAAEC9RHQKgECBAgQIECAQBJg+UdAgAABAqUXUCABAgQIECBAgAABAsUWEGAVe/6MnkCjBPRDgAABAgQIECBAgAABAgSaJiDAahi9jggQIECAAAECBAgQIECAAIHyC6iwHgICrHqoapMAAQIECBAgQIAAAQIEqhdwJQECBHYSEGDtBOInAQIECBAgQIAAgTIIqIEAAQIECJRJQIBVptlUCwECBAgQIFBLAW0RIECAAAECBAi0iIAAq0UmwjAIECBQTgFVESBAgAABAgQIECBAoPsCAqzuG2qBQH0FtE6AAAECBAgQIECAAAECBNpcoC0CrDafY+UTIECAAAECBAgQIECAAIG2EFBkeQUEWOWdW5URIECAAAECBAgQIECgqwLOJ0CAQEsKCLBacloMigABAgQIECBAoLgCRk6AAAECBAjUWkCAVWtR7REgQIAAAQLdF9ACAQIECBAgQIAAgU4CAqxOGL4SIECgTAJqIUCAAAECBAgQIECAQFkEBFhlmUl11ENAmwQIECBAgAABAgQIECBAgEALCNQ5wGqBCg2BAAECBAgQIECAAAECBAgQqLOA5gnUV+D/AAAA//8CyPyQAAAABklEQVQDAA9Wi7p18zIoAAAAAElFTkSuQmCC"/>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052" name="AutoShape 4" descr="data:image/png;base64,iVBORw0KGgoAAAANSUhEUgAAA2IAAAIYCAYAAAAPYV+BAAAQAElEQVR4AezdB7wU1dnH8WcQkSZFpGoIKoQiRlBBwAIWbIgiEgRjVJAoGmOwo1jwjQVRUbHEii1GTZRmx4YRRUGMoKCABSJFQUUITUB5+R+Yde/evffu3rtlZvbnx9nZnTlz5sx3ZrjzzDlzptJm/kMAAQQQQAABBBBAAAEEEMipQCXjPwRyLsAKEUAAAQQQQAABBBAobAECscLe/2w9AoUjwJYigAACCCCAAAIBEiAQC9DOoCgIIIAAAtESYGsQQAABBBAoSYBArCQZpiOAAAIIIIAAAuEToMQIIBASAQKxkOwoiokAAggggAACCCCAQDAFKFV5BAjEyqPGMggggAACCCCAAAIIIIBABQQIxCqAp0UZEEAAAQQQQAABBBBAAIF0BQjE0hUjPQL5F6AECCCAAAIIIIAAAiEXIBAL+Q6k+AgggEBuBFgLAggggAACCGRSgEAsk5rkhQACCCCAAAKZEyAnBBBAIMICBGIR3rlsGgIIIIAAAggggEB6AqRGIFcCBGK5kmY9CCCAAAIIIIAAAggggMA2gbhAbNsURggggAACCCCAAAIIIIAAAlkVIBDLKi+ZlylAAgQQQAABBBBAAAEEClCAQKwAdzqbjEChC7D9CCCAAAIIIIBAvgUIxPK9B1g/AggggEAhCLCNCCCAAAIIFBEgECvCwQ8EEEAAAQQQQCAqAmwHAggEWYBALMh7h7IhgAACCCCAAAIIIBAmAcqasgCBWMpUJEQAAQQQQAABBBBAAAEEMiNAIJYZR+XCgAACCCCAAAIIIIAAAgikJEAglhITiRAIqgDlQgABBBBAAAEEEAijAIFYGPcaZUYAAQTyKcC6EUAAAQQQQKDCAgRiFSYkAwQQQAABBBDItgD5I4AAAlETIBCL2h5lexBAAAEEEEAAAQQyIUAeCGRVgEAsq7xkjgACCCCAAAIIIIAAAggUF0geiBVPxxQEEEAAAQQQQAABBBBAAIEMCRCIZQiSbCouQA4IIIAAAggggAACCBSKAIFYoexpthMBBJIJMA0BBBBAAAEEEMiLAIFYXthZKQIIIIBA4Qqw5QgggAACCJgRiHEUIIAAAggggAACURdg+xBAIHACBGKB2yWFW6DNmzfbokWL7L777rOrrrrKvvzyy8LFCNGWs99yt7M2bdpk//nPf+yWW26xO+64w9avX5+7lbMmBBBAAAEE0hQgeekCgQ/E3n33XXvooYfsp59+Kn1LcjT3xRdftEsuuSTtYdiwYXbttdfa/fffb++8846tXr06RyUO/mriLy5Hjx5tn332meniPlslV95Lly61CRMm2KhRo+zKK6+M7c+hQ4e6/fT444/bV199ZT///HOsGF988YWNGzcu9rvQv2R6v5X33CrtfNS+jUJA/91339m//vUvGz58uD3xxBP2zTffZPUcKfRjm+1HAAEEEEAgFwKBDsR0t3fatGm2YMECW7JkSS48ylzH0UcfbSNHjnQ1Nu3atTPP82LLeJ5nzZs3tz59+tjFF19sl19+uRsGDBhg++23n1WqVMnmz59v48ePdxf7Dz74oP3www+x5Qvxy6pVq9yd/eeee850sZlNAwVgc+bMsRtvvNFuvfVWe/vtt23lypW2++6727HHHmu/+93v7MQTT7S99trLvv76a7vrrrvs+uuvtylTpriah88//9xU3myWMSx5y0E1MtnabzvssIPtscce9tvf/rbIULt27RiRziedb/Fp2rZtazvvvLM712IJQ/5FNwSeeeYZW7NmTZF/b0K+WRQfAQQQQACBghcIdCCmoEUB2Lp161xznCDtrZo1a7qL95122ilWrCpVqlj37t2tY8eOVr9+fatTp44bWrdubSeccIKptkVjXWSqpmXu3Ll22223mWpaYpkU2JdatWrZ+eef72qlevTokbWt1zH06KOP2iOPPGLff/+92y+nnnqqXX311TZgS6B88MEHW4cOHdxw/PHH24UXXujm6UJfwYaaSr7yyiu2du1a27hxY9bKWaGMc7hwNvbbt99+6wKoQw891K655ho766yz7JRTTiky7LrrrrGt3H777d35Fp9G+1Q1ZLoRsssuu9iGDRtCHzz/6le/sjPPPNNOP/1022effWLbzxcEEEAAAQQQCLdApaAWX00Rp0+fHmsappoM1V4Eqbw1atSw+ECsrLLpDn7nzp1NF4vVqlVzyXVh/9RTT9ny5cvd70L+0IWzgtRMGyjwuvvuu2327NmmWrE2bdrYBRdcYKo90T4paX3aR/369bM//OEPpu9KpyBMx6a+M2wVyNR+082JPffc0wVXpe2XrWst/bNevXp28sknm2rQlG/pqSs2d+LEiTm7UaSgrGKlzfzS5IgAAggggAAC5ROoVL7Fsr+UasIWLlwYW9GKFSvchXRsQgC+bLfddqZaMEvzP9WytG/fPraUtm3q1Kmx33zJnICCMD1jqGdqlKuasakGpWrVqvqZ0qDgQE0Xtb9Vs6ZalpQWJFFaApUrV3a1yXJOa8ESEqtWWs1OS5idkcm6OaSbRBnJLIVMMmWTwqpIgkCQBSgbAgggEAmBwAZi6hlMF72+smoy1HGHapD8aWEde55ne++9t8XX/nzyySehb0IVtP2hziTUrNAPwurWrWtHHnmk6YI/3bLqGT89E6gasWzXsKRbtiikl6vnedawYcOMbo5ueuhZ04xmGpeZ/p3SjZS4SXxFAAEEEIikABuFQOYFAhmIqdOGjz/+2Bo0aGBNmzaNbfWyZctMHSbEJoT4i4KC+EBMF4saQrxJgSu6OnpRc0QVzPM869q1q3t2T7/THTzPs27durkaUNWCpLs86UsX0PNeakpYp06d0hOmOVcBtJoDp7lYSsnVnFg9oOomUUoLkAgBBBBAAAEEEIgTKDMQi0ubs68ffvih601Qzfd08ew/L6KaCD03FoVndLQtXMBl75BSsPTvf//bPROmtSjwVRNDfS/voBsDLVq0iD23WN58WC78AqqZ17Odhd7rafj3JFuAAAIIIIBA/gQCF4jpAmfmzJm24447um7E1YW1LoB9Ij03pufH/N9hHS9evNh1R+2XX70wqvMP/3eBjyu8+e+//77rHdHPqFmzZq7jBv93ecae57neL3fbbbfyLM4yERHQOwD13OF///vfiGwRm4EAAggggAAC+RAIXCCmpodqgqhnO/SwffXq1d3zVD6OnhvTcxn+7zCO9eySms2pVswvv2paMhGIqSMJdfyhFxXrJdLqyluDvmua5imNv95kYzUN1ctjr7jiCtNLdv00stf7jNTlu/LUeOzYse4dW36a0saqAVy0aJGpG3ktqzwuvfRSu+666+zVV1/NWLfwfjDvl8XzPNMrBPzf2Rwns5P3Sy+9ZPK87LLLTDUpic1QlUb7RvtI+0o2GvRd0zRPaUore7J1K31Y9pvKmotB5928efPsnnvuca9NkLOGq6++2saMGeOaP+tYTSyLpqm2Xq+c0A2h+PlPPPGEKQ9/iD9v/HRLly61xx9/3P7v//7PdNwrrcb6rema76dljAACCCCAAALRFwhUIKYmh2p6qJ7B9E4nz/PcHtALdlVD5n5s+VAvZWp6tuVr6P5XEPbCCy+YLgT9wus5uMMPP9z/We6xatl00T5u3DjXJE/d5Oul0up+Xd3s6yXFmnffffe592HFr0iBgYLDW265xUaOHGnaD/EX/jLXi5Dfe+8904W9ltVYHag88MADxfLT/PhB+T/55JPu5c2qSdD71vRetUGDBpm6P1cg9thjj2UkGFPnHPEdKKjreb3kN748mfyufaqbA8nstN3/+Mc/7PXXX3fvtNIxPmPGDJObXwb2my+R/bGCHb3MWwGXbnzo/Vw6Dvv06eNq4T/99FPT+XH//fe75tHxJVIAp+c61eGL3nmn48qfv//++7sXguul4BrUO6c/T8eHOo25/fbbTeeRmlxfdNFF7hUKXbp0sR9//NHUCmD06NHuvPOXY1wgAmwmAggggEDBCgQqENMF+pdffmlNmjQp0kmH3gmki3V/L+kiW70M+r+DMtYdczVbUg9w8WXShZheVqsH+3U3fcqUKS5QUhoFYepOXTV/+l3eQd20K5DRWD3P6WW4LVu2NHV+oED27LPPdgGP8pezAh9916ByK1DQRWj8xaXmaVBQpjv2CmbUjbuG+P3x1VdfmYI4pU02qIZKF74KVvRC3iFDhtiBBx7o3sGmmsDTTjvNNfmTky52k+WRzjTVDOni1l9GvSTqotv/nenx5MmT3asVEu18V9Xwysvztt5Y0PoVxGqs/cV+k0T2B9W2qxZM5+KJJ57o3g+n93LpJkXHjh3tvPPOc82htd8+++wzF5CpQw6/ZLpBpJpV3SRSr6fqYMSfp27yNd0ftL/9ea+99pq99dZb7pxXANezZ0/XaUyjRo3s+OOPt+OOO869yFpBumpOdbz4yzJGAAEEsiFAngggEAyBwARiuvhRLYFqYfbdd1/XO51PpAsgXeD4nXYorWoVlNZPE4SxyqOLajUnU7Mjf1CtlGqZxo8fb/5FljqPUC9x55xzjguWKlr+WbNmxZ6JUsCkZ87i81Sgp4tHf9qCBQtiTQo9z7NjjjnGVIOmoFAXpn66jz76yF1EKpA799xz7eCDD3bDn/70J1Ogp3TaH+rlMj740XQNurjUdmt9Cgr79etniWXzPM+0z9UcVctUdIi/eFZeumD2jx39LmtQBwzXXnttkaZm/r5MHCu4VG2m3BRQxj/P+MUXX5iCVLnpIr93796mgFAX6apBUTnYb1LI/qCAV81tFQCrtkq9KSauVe8EVICm/aN5CtiSNSPVvFSHVatWmZoz6hxR/o0bNy62qII7/XugGf/73/9MNaT6zoAAAggggECEBNiUJAKBCcR08ay70Log0YVJYlkTO+1Qhx2q2UlMl8/futjXu6bUNCl+OOCAA0x33hVQ+uVTrd7EiRNNd8vVfM2fXt6xLjDLWrZ27dqxJKq1U5AUm7Dtiy4W42t2FMANHjzYVJO1LYkbqZYpPrBT8JKsDKq5VDCnhdq2betqAvQ9cVB+qpWQYeK8dH8nNlutWrWqKRhLNZ86deq457n07I4C1Pj9pjzk8/vf/95GjBhhamamaRqULn49uvjv1auXydDzPFPwpWfj/vKXv7jaQC2TzEzT44dC2W/x25zJ7wqCXnnlFXejQsfZPvvsY57nJV2F9tWhhx7qaqiUQIG0bhDpe3kG1fDqXCtt2cRzLhP/HpS2PuYhgAACCCCAQDAEAhOI6WJdd4PbtGmTtHc7XSDFX/jr4kZN5nSRFQxKcxf7emeRau9iQ4cOrvnRn//8Z/vrX//qmuApMFCZ1YxRF4g333yzLVy4UJPKPSjIUQChizp9LysjBQAyLCudAmDZJ0unJqN6ZkbztB900anv/qAawjfffNMU8OkC2K9B8+cnjlVTFh/IJM5P9bdfJj+9jqtktXX+/JLG2k96fULijQEF2zoW94TgWQAAEABJREFUE4NGlV1Bmp+fmoSqmaj/O9lY+4r9lkwmc9N0k8d/JlPHmJoElpa7jnm/ZlPH9QcffFDmM5Al5adnW/XaBB0rqmkr63hQPrqpoTEDAggggAACCERboFIQNk/PEOlhdV3ExtcwJJZNF7a6sPGnz507N1TNeBSMKFDTM1LxF2RqvqQOHXTB6G9bumPVuKkJpJrUqZlf/PJ6ZkrNstREMH56Jr8r6EqsiVITK3UQovUomIvfZk3L1qAAKj5vBYIqX/y0VL97nlesFq+kC3nViCkQ9vNOLIc/PX6crf0Wv47SvsslKPuttHJWZJ46yFAwrjwUiCUG6poeP+hYjX9FgWqv1QFMfJpUv+uYOOGEE1ztqWqWlbe/rJ6JVNPWv/3tb6Yafn86YwQQQAABBBAoDIFABGJ6iF7PTv361792HXWURK/u7OOfI1IAp7vVJaUP6nQ9g6VnURR4+mXUxZ4e1FfQ4E+ryFi1U3o2RT353XTTTaYgTzU5Fckz3WVVy+fXRKm2SLUC6eZRnvQ6TuKXUxnkGz+tIt9TCbDKm38h77fympW1nJoXlpUmcb4CZH+ajp9M1lIpL90YGT58uE2YMMEU9Om5Tn99IR5TdAQQQAABBBBIQyDvgZjuyP/73/82XYCq1z69ZymxQwT/t965ozvI8dunu92Jd/Tj5wf1u4LOVq1aFSmeOndQ7VWRiWn+kKOeadHzTU8//bTrUEPvr1KnIM2aNUszt4olj78AVvCiYKxiOaa2tDpESKx50PvLUls6P6nYb9lx1/NW5QnCVfOuGmy/VH7Nrv+7PGOd2w8++KCrHdPxqM5xrrrqKjvqqKOKdE5UnrxZBoHCFWDLEUAAgfAK5D0QU4cbapajZmuqJYrv5CLZd6VRWp9cF1nqEML/HZax53mmrtvjy6saPr3nKH5aOt9V66V3FY0dO9Z1VT906FBTV/NqjpVOPplKq+DCz0tNw1Sz4P/O5lg1Yhri16EgX0F//LSgfGe/5W5P6NnIVI4DNTFVs0K/ZHqOz/+e7ljngV4XoXf8LViwwPr27Wtqnvyb3/wm1ilIunmSHgEEEEAgjwKsGoEMCeQ1ENOD8OpwQ89KqGdB9SoX38lFsu9Ko7Set7XXM+URxK7sU9k/8Z1dKL22RRdt+p7uoDv2999/vymQUwcQAwYMKNZNfLp5ZjK99vGaNWsymWWJeekiWs/Jed7WY0QJFewr6Nf3IA3st+zuDdXCxjcBViCmmwLprFVNamvVqpXOIrG0amr8wgsvmDrlUT6nn366ldZrY2xBviCAAAIIIIBA5AXSCcQyjqGaAHVZrx7KFDykugL1Yqcgxk8f1Itsv3wljXVnXhdq/nw1hYpvUudPL2usfMaPH2969kR5KFjVuKzlsj0//rkXXQDHN1XM9rrbtWvnXhngr0c9RE6dOtX14OhPy/eY/Zb9PaBarSZNmsRWpOMwlY43tG/8c1PNFOPziGWWwhfV1r/99tummyxNmza1Zs2apbAUSRBAAAEEEECgEATyGoj5Xdbrojmd5nN6r5JqPPwdpIts1azpYsefFoaxnhNRTZFfVr3sV0Gp/zvVsWrBFIwqvQK5+KabmpavQRedqgXQ+rVvZs+ebfHbq+llD+VLoWfSjj76aIuvDdHzhLowLl+OmV+K/ZZ502Q56rUJqhnTPB2H6sTGD7I0LdmgWjP/WN19992tvE0T9Uyrvy69i0+BYbL1MQ0BBBBAAAEECk8gb4GYOthQ8KQeBPfbb7+05RO7sp8/f76p58W0M8rTAnqHmC4I41ev9w2V54JPzRl1gam81DmBXiSs74mDf0GYOD1bv3Xhqf3r56/aT12Y+r+zPdb7oPSMnH/xq+1/9tlnXQ+S2V53Kvmz31JRqnga3RBQMOXnpN48/RsX/rTE8WeffeYmqav7Tp06mef90szVzUjxQ/vYT6pmqP556k/TWNM06DsDAggggAACCBSOQN4CMV2Qq6MNXSSphitdcnXGoJ4H/eUU2KjpWUkXNLr4GjFihKkHRo3VQ6G/bHnHurBXE6Z0l9eddjUljG8ipYDl4IMPLtcFn2qdPG/rhaLKM2XKlCI1T7oYlI26yvbLKidN1/i9994zBcb+vEyNtV8PPPDA2DbJa+LEiaZXDmi98etRWVRbpfJrusY6PvS9IoOCfAVjfo2I8nzooYcs3r4i+ccvq23SdsRPK+07+600nczNUzPdww47LFY7quaJkyZNKnKOxK9NvRv6/z6oybT+jYqfr+8K0NRkUd81xDe7VZNrvRdQx7D2seZrUJ4a9N0ftK5HH320yPsQ/WNI+ej5Vz9t4ljboXUkTud3eAUoOQIIIIBAYQnkJRDTRbC6rNeFqy7Wy0PueZ4pGItfVsFd4oWO5qs3wmeeecb8miKNH3nkEVMPZppf3kHBny6k0lletXbqwnrWrFmxxdScUD2pKRiLTUzjixzia9I+/vhju+2220zGzz//vCnwfO2116x9+/axXtpUdl2MPvbYY6aaKjWL1CoVLKmpp75rUA2bxskG7T8Nmqflkl0UduzY0VR7qTQa1HPiP//5T1PHIqrF1HNtaqJ66623moJFz9saUCpf1V7pIlXDqlWrtHjag+d5ps5dzjjjjFjzsm+//dbuvPNO55OszPErUfnUhNSfpgtrXdj7v+PHsoovp5aTS3ya+O/st3iNsr+rsxftOz+ljqVUz79mzZq5HkT92tF58+bZuHHjLHH/67xQr6Pa7+rVsGfPnrEbCf56NVaHMDpv9V2DbmYoP/WO+MADD5heTaE06hnV87Ye0yrvmDFj7Mknn3THuv4d0Hv+1Hx2l112UTZumDlzpunc1L9R8ee1ZqpWTWMNKrtu6ug7AwIIIFBOARZDAIE8CuQ0ENMFvmo9VCOhCx5tt4InTdNFrH6nMujiQwGXlo1PrzvEunh55513LD4/rTf+t5ZRWr1vS9/LM6j8CnJUw+IvrwsjBXx///vf7fXXXzc1vdSgi7R//etfdsMNN5guvD7//HO3iOd51rx5c/vzn/9s8U2n3Mw0PnRBeMghh5hf66NFFfA999xz9uabb5o6Njn33HNNnXjo2SnNV6CjmiltxwknnGAKLuSq8upOvNJo0HNdCxYscJ0N6Lc/aLk33ngjdiGrZeWu6X4ajZVvv3793LoVxGia7vgr+FMwdv3115u8FJScfPLJRbZBZdQ7wRSklrfXOq1Pg3wvuugi04W1vHRRLB+9b+3xxx83XfwqQP/hhx9M+0f7T/tKQawCRl1UqxfPoUOHFgkslbcGHWPaz/EXyjpGX375ZdONAKVJHFQO9luiSvLfMlTPgzqu41MoYJGzjqn46cm+a//94Q9/MLnr2NKxPnLkSNN5rO86d2+++Wa3/3UDQe/5UtpkeSmg03OqGmu+9r9uJKiMuuGhQdP1/Gt8zb3S6bxT0Kbz6vjjjzeVKf65Th2DOm+7detmal6rfDTomcL45sx6jk3bLxvNZ0AAAQQQQCAcApTSF8hZIKZA6G9/+5spCNMFr18AXXRo2lVXXWUvvviiP7nE8ZdffmnXXHON3XPPPa6XwMSEWs/48eNN+fmBmi7iO3fubLqYViCiCzJdYOnuui7IE/Mo7bfKqOaNuoDXRZEu6Pz0+q4LRdV2vfTSS6bgS4Mu8HShp9oSdUqi3tPUVEr5nHnmmS5Q8vMo71gXfmeffbZ7f5gCHs/zrG7dutanTx/74x//6GqD1PNbly5dTBePugt/6KGH2qBBg9yFqbbr8ssvN3W1HX9RqzLffffddumll5o8tb+uvfZa0/bPnTu3SHEVUGv66NGjiwTCCsb0/jcFg6opULMuLahyqEwDBgxwF6PaN57nmWovVC7tw+7du5umK31FB+3/gw46yK6++mo7//zzTdvfqFEjd+H9xBNPmIIuBYb33Xefqy3zPM903AwePNiGDx9ueq9dYg2FyiS7YcOGObv4GjB9nzx5sltWNwiUNnFgvyWKFP2tY07nyfDhw02Bvs6x+BQ6HvVvwdAtAXLicRefzv/epk0bU9pevXqZ9r1q2RT06BzV8bz33nvbxRdf7M4bHS/+csnG2ne6yeAfExrrfDvyyCNjtWhVq1Z155iONZ1zykc3TFRLPGTIEHeDwvM8078H6qhH565qx3Quq1mt0msbdc6p1jj+xo/mKaiTTSrbrvQMCCCAAAIIIBAcgUq5KoouSM477zzTHeiSBvVyV1Z5dtttN/vrX/9aaj5+/rpQUn6e59khW2qMdDGjQEG1ImoGqEBAFz5Kk+qgMvr5pztWjdiVV15pCkh0saaaqlTXm0o6dY7xl7/8xRRQ3HjjjXbZZZeZ7uz72+h5nh1xxBGuZk7B7FFHHeWCU+WdynbJUxebV1xxRan+2s/a38o3flD5Bg4cGNt/8tDFaKtWrdyFq/at9s8555xjahbmlzs+j0x89zzPVNOm7de+UMAnM39/yk4XtxdccIGpxkK1aQomS1p3KnannXZaSYubXNhvyXl0zPn7paxxScddYs46NnVDQvtXx6Dy1f7XjQjVDqd6XnqeZwrctJzy0Fg3eTxva1NEf70K6HSs6ZxTuuuuu87deIhfj2qEVWOrcuhY0DHhL1+Rc87PgzECCCCAAAIIBE8gZ4FYkDZdzRLVrEd3nnV3OkhloywIZFiA7BBAAAEEEEAAAQQCKFCQgdi0adNMze/0zFQA9wlFQgABBEIuQPERQAABBBBAoCyBggvE1PmEOulQU6H4B+TLgmI+AggggAACCARYgKIhgAACIRMomEBMzRH1Div1lKde+PQsR8j2FcVFAAEEEEAAAQQQCJAARUGgIgIFEYitXLnS9daoh+PVW17r1q0rYsayCCCAAAIIIIAAAggggECFBMoZiFVonTlfuHbt2qae+A444IBYL4E5LwQrRAABBBBAAAEEEEAAAQS2CRREILZtWxmFXYDyI4AAAggggAACCCAQEQECsYjsSDYDAQSyI0CuCCCAAAIIIIBANgQIxLKhSp4IIIAAAgiUX4AlEUAAAQQKQIBArAB2MpuIAAIIIIAAAgiULsBcBBDItQCBWK7FWR8CCCCAAAIIIIAAAgiYFbgBgViBHwBsPgIIIIAAAggggAACCORegEAs9+ZaIwMCCCCAAAIIIIAAAggUsACBWAHvfDa90ATYXgQQQAABBBBAAIGgCBCIBWVPUA4EEEAgigJsEwIIIIAAAggkFSAQS8rCRAQQQAABBBAIqwDlRgABBMIgQCAWhr1EGRFAAAEEEEAAAQSCLEDZEEhbgEAsbTIWQAABBBBAAAEEEEAAAQQqJlDxQKxi62dpBBBAAAEEEEAAAQQQQKDgBAjECm6XR2OD2QoEEEAAAQQQQAABBMIsQCAW5r1H2RFAIJcCrAsBBBBAAAEEEMiYAIFYxijJCAEEEEAAgUwLkB8CCCCAQFQFCMSiumfZLgQQQAABBBBAoDwCLIMAAjkRIBDLCTMrQeA1MdsAABAASURBVAABBBBAAAEEEEAAgZIECnE6gVgh7nW2GYFyCkz/YoY9958XMzos+n5xOUvDYghkT2Dj5zPsx5mvZnT4edXy7BU4ZDm/M3ehTZw+p4LDJ1uW/2X4+of/hUyB4iKAQKELEIjl/QigAAiEQ+DG526140f1szMfPC+jQ8erutmrH78RDgRKWRACqyeMshV3nWkrH7k0o8O3w4+yDZ+9XxCGpW3k8KdesV4jHrVBdz9TweHpLcv/Mvz2/NvsrTlflrZq5iGAAAKBEiAQC9TuoDAI5EggzdUsXrHEbn/p7jSXSj35LS/ckXpiUiKQRYFN33xha998PGtrWDvp/qzlHYaM5y/91u5+6d2sFfWWiW9lLW8yRgABBDItQCCWaVHyQyCCAhs2bcjqVq1aR5Oi0oBXrFhht99+u+277742a9as0pIGel5i4X766Sd7//337ZRTTrGTTjrJ1qxZk5gk9783ZvdY/3n96txvU4DW+OPGn7JamlXr1mc1fzJHAAEEMilAIJZJTfJCAIHACGzevNn+85//2Nlnn21t2rSxXXbZxQ0tWrRw06ZPn25Lly61u+66KzBlTlaQCRMmuPKOHDnSVq5cmSxJkWmvv/66205/e1MZn3nmmbZp06Yi+WT7x7p16+y+++6za665xt544w1TUJbtdUYhfwWrffr0KXMf//a3v3XHjc4BnQtR2PZybkNGF1uyZImdd9559r//cfMoo7BkhkCBChCIFeiOZ7MRiLLAsmXL7I9//KP17NnTqlSpYk8//bQtXLjQFi9ebB9++KGbPmTIENtvv/1s3rx5gaY4/vjj7d5777W99947pXIqoPn1r39tkyZNskWLFrlt1sW4AjJl8PDDD7tpsvj444/t1FNPNdW4/fjjj5qd1qCL0QceeCCtZfzE1apVc4HCX//6V6tatao/mXEZAjVq1HDH88yZM61jx44udefOnd1xrH2qff7BBx+YgutXXnnFjj32WLvssstyHmi7gkXw4+WXX7axY8e6mtwIbh6blDEBMkIgNQECsdScSIUAAiER0IVov379TBdMd999t912222uRqxy5cpuC3Qhe8wxx9jzzz9vXbp0sa+//trWrl3r5gX1Q2WvXr16SsVT2uuuu8723HNP8zyv1GXq1q1rl1xyibVt27bUdCXNnDNnjn3++eclzU5peqVKlcosZ0oZFViinXfe2Q4//PBiW+15njVs2NDOPfdc+9e//mUKeB977DF3vBdLzIS0BHTDQjd1VMMo21zXIqdVWBIjgEAoBCplspTkhQACCORTYP369TZs2DCbO3euCzBUI+Z5yYOROnXq2LXXXmsKRnRhlc9yZ3LdCmx23333lLPU9v/mN79JOb2fUE3kFOQGPYj1y1uI47322ssOPfRQt+m68UDg4CjK/fHvf//bdPPB8zx74YUXTLWS5c6MBRFAAIEtAgRiWxD4P9QCFB6BmIBqwV599VVr1qyZnXjiiWXWtCgAUZO/KAUTXbt2NTVNjKGk8KV///6mmsIUkrokuqC/5557TBembgIfgRTYbrvtXNNc2/KfblKo2eqWr/xfDgH5qTbs+uuvN51jGzdudE0Uo3QTpxwsLIIAAhUUIBCrICCLI4BAMARUQ6MmWCqNnp1p3LixvpY6eJ7nnlOqX79+LJ0exh89erQdfPDBrodCdX7RqlUr22effdzdcCVctmyZXXzxxS7g07NXzbYEfmeccYZ99dVXmu0GBSt6Rqdfv352wQUXmC7YJk6c6PLRMr1793adhbjEcR+6WH722Wfd+pVOeV911VW2atWquFTZ+Zq4bq1ftYrvvvuuK7/WKmd1VjBq1Cj9dM8rKV3z5s2dlyYqsNUFa+vWrV2nEr/61a+sV69epmfSNJ8hNwJ6LvLtt992KzvkkENshx12cN/5SF9g2rRp9s0337jmoH379nUZvPTSS0XOeTeRDwQQQCANAQKxNLBIigACwRVQAPXJJ5+4AioA8LzkTRJdghI+FHA88cQTpkBM+amTC3VuoedsdBGmThC+/fZbU3CldU2dOtX++9//uiaOqo1TD43qwEI9Aj755JOmwPCtt94y/b7lllvsnXfesSuuuMIOO+wwe++990wdVShg84uj72paqcBNHSwob9U6ffnllzZ79mw/WVbGuuOv9d5xxx2ucxCtW7WL6sRDtYvq4VDBpGrO9Ozdiy++6J4/Ug9+6iTis88+M/XUp3zkMH78eHvmmWdchyGPPvqoC8JOO+0055WVDSiETEvYxg0bNhTpjEP7TMemvNVxjYIw7acSFmdyGQI6L3U+H3nkkaabNnq2VDce9HypbpqUsTizEUAAgRIFCMRKpGEGAgiESUC1UT/88IMr8m677ebGyT5US6UanMRBF6p6puYvf/mLe65GAYV6VBwzZoxrgqegQmkUnOkZtKOPPtpU66bmX+r8Q93iqzv81atXuwBF78ZSz42e59lHH33kaoRGjBhhqglTANagQQPX89r3338fK6aeO3n88cdN6ZS/8m7atKmpdqlWrVqxdNn48sgjj9hzzz3ngkMFslq3xgrAVFY9T6egsqx1y0y1MOrJT68N8DzPdYqii1ftn/jtLSsv5qcmMGPGDNchjX9M6xlBHavqSEUB/cMPP2w77rhjapmRqpiAbjKoNrdHjx5unoKx4447zn3/5z//acuXL3ffo/rBdiGAQPYECMSyZ0vOCCCQQwE1q/NXp1op/3viuHv37q6nPzWv0zzP89y7xNQLmmp71OugasDUjOt3v/ud6bcuYjt16uS6Wa9Xr567qFWvdVpeg9Jqut7zFX9RVrt2bbfMvvvua7qDrrQatOwee+zh3p3ll1tlVtDTpEkTO+CAA5QsNuy6666m5pGxCRn+ojL/4x//sJYtWxZbj543U6D5888/m2oFVDtQ2up32mkn0/YpePPTyUedgii41br86YwzI6CgVwGwaibVa6g6kbj55putZs2adsMNN7hnmrJdo5qZLQleLqoFVs22mjvHn8MKynRzREGaarqDV3JKhECoBQqm8ARiBbOr2VAEoi2goEdBk7ZSF6MalzTovVUdOnRws3V3u3379sU69vA8z9QDoSX8p2fFPv30UzvppJNcczDVsOmZETUFS0ha5s/4wE1NHVVzpuepFPjFL+x5nqmGyrL0n5o+LliwwNRFvm/or8rzPOvWrZv7+eGHH7p3jrkfJXwoaFQTTzWxVJD5/vvvm2oH1dFBCYswOYMCnue5QFgdsKhp6W5baoe1b88555ykzyRmcNWRzEo17VOmTDF5xp8bCsrU5FMbrVox3WTQdwYEEEAgHQECsXS0sp2W/BFAoNwCasLXqFEjt7yevyrrwki1Nqr52n777V1TQrdgih/K+29/+5upx0U151Ozvf333z/FpZMnU1BWVm1T8iUrPrWsdeu9VLJS+VRDUNYaFYCNHz/e9ttvP/cetyFDhtgJJ5xQ1mLMz7CAgmI996dsVXPz2muv6StDGgKqKZedmiL6TT81Vk3xhAkTXE5vvvmmledGjFuYDwQQKGgBArGC3v1sPAJmUTFQsHDUUUe5zdEzStlqiqXaNjXVU02Yahxuv/12Uzf4yWrPXGHS/FAQk0qwk2a2pSb3a9tUM1Za74y6AFWtWWmZqYmlOokYOXKkqbnj3//+dxeQ+esobVnmZV5ANTcKopWzAm6NGVITUDNa3WhR5z1q9pk4qAmomvPqfFXAphsVqeVMKgQQQGCrAIHYVgc+EUAg5AKe55k6x1BTLL3jRxdPqrnK5Gbpgku9H6oThKFDh7rOOjKVvwJJXTCr2aOCvUzlm0o+ulhXbaJ6htT6E5fRBbwsDzzwQPfcUeL8+N/qIfGNN96wiy66yNTZR/y8uO98zZHAd999Z9p3Wp06l9GYITUB9ViqZsJHHHFE0gVUqz5gwAA3T8e8as7cDz4QQACBFAUIxFKEIhkCCARfQE2x7rzzTtND9KqtuvHGG2MXoemWXsGcfwHrL6v3Y+mZEdVa6X1a/nR1Tx9fk6R0ujuuDi4UvPnpShurVk2ddCife++91z1/5qdXHlqn/zvTYz2XpmfetB51GBK/bVqX3qGkzjaOPfZY/SwyaNu1rbJSAKlOI5RAwZvGGjRP26XvGtTdupbTd4bsCah2Ui/e1n5VsK1OPbK3tjDknHoZV6xYYQ899JDp/YAKxkpaUrXwstXx/cADDxQ5b0tahukIIICAL0Ag5kswRgCBSAi0a9fOnn/+edNYQYXe/aNu4f3gQu9YUgcSt956q3u/V5UqVYp0yqFAa86cOe6CSvkoiPBh1KuiurjXha2evXnwwQftuuuuM3URrvyVVsvcdNNNpmBMAYymqSMOvXPIz0fd3KtWTfO++OIL97JkdSCiPNXroB7+HzhwoKkc8+fPN3V8oe6zFbzo+/333+/K7udX2lhlVecZWqfSqXxar777g+d5pnd/qcZLtQCXX36565RDwd+4ceNMXfirS301w/KXUe2dekN8/fXX3XvH1CW/LkbVu6TSyEXGqpn805/+5F6Gq+kKkNWTn7qyV9lUA6ft0nvb9M4rpWEoW0Dvs5OlUuqYlr2+a9BvPSep992powntK70UnBox6ZQ9KIDVc5/qnEY3GTSUtJTOEZ0Hmv/UU0+ZhtLSKx1DgQmwuQiUIkAgVgoOsxBAIJwCeo/SxIkTTQ/T611WakaoGic946R5CnIU+OgZpsmTJ7te5rSleu5LgYQCIP3WHe62bdvarFmz9NMNCpbU8YSCBnURruZJ6rjj9NNPdz0v6jmSwYMHm9ZxzTXXuGX0vJq6sL/rrrtcV/ldu3Y1La9AREHKkCFDXDp1/jFp0iTr2bOnqamTgkg1hTz33HNNvTXq3WL6PWjQoJQ6GFG59X4zBVmqndNK9CyLus5XWfTbH3TXX+8SU0Cl94Vpu5s1a2YKxDSou24/rcaqBbjkkktcwKqAVM/NyVpd/qu8Cgb0/JzeG3bHHXfY+eefbwp6FVieeeaZrlmntlvTld/ChQtNgWBiuTSP4RcBBfx6R5iOFQX6mvPBBx+45/B0fGvQMa40Cnb1mgZ1r37YYYcpKUMZAjovZaVXNej8lJ/egafpiYvq3wud1zq/NU/nmM4JBcDaT5rGgAACCJQmkK1ArLR1Mg8BBBDIuoA6h1CvfQqSFJAoQPIH/dZ0BUTxXVLrHWN+Gn+s5z5++9vfxsqrgEXNHzVfNV1nnXWWe9eYnk9TbZrm6XkvddeuNPGDgi4N8dP0XQGLvwLVWqg5mfLSoO8KpnSnXYGhAkrP8/zkpY5VbpVf60gcVI7EhRWcKoDUhb3Sa/165kvrTEzreZ6pUw51ja70alapNPJUDaGW1bzhw4e7bvFlq85Axo4d64IwpdV2az3xQ7JyKS3DVgHVyiY7tuIN9V3+6rTm0ksvtfh3um3Nhc+SBGSlAFeG/qDfmp64jI5pP038WPtH+ykxPb8RQACBRAF1WMuJAAAQAElEQVQCsUQRfodYgKIjgAACCCCAAAIIIBAOAQKxcOwnSolApAV+3PRjeLePkiOQjsBGjvV0uNJNu37DpnQXIT0CCCCQNwECsbzRs2IEwiOwW/1mdnCrA7JW4N8fcFLW8iZjBNIRqLxrK9t+t73TWSSttFU7ZebF1mmtNECJ2zZtaPv/pmnWSnRK1/ZZy5uMEUAAgUwLEIhlWpT8EIiowMNn3WtnHz7Ijm1/dEaH6/pebecf9aeIqrFZYRSoM+h2q37wybbD3odndNix7xVWvevvw0iS0TI/PqSfDT5ifzuuQ+uMDjef1sPOOapzRstKZkUE+IEAAhkWIBDLMCjZIRBVgarb72BX9rrU7jtjdEaHAQefElUytiukAl61Ha1mrwut9mk3ZnSoVuC1Yf7hUKvaDvZ//Y+wB87pk9Hh1G77+KtgjAACkRGI9oYQiEV7/7J1CCCAAAIIIIAAAgggEEABArEA7hQViQEBBBBAAAEEEEAAAQSiK0AgFt19y5YhkK4A6RFAAAEEEEAAAQRyJEAgliNoVoMAAgggkEyAaQgggAACCBSmAIFYYe53thoBBBBAAIHCFWDLEUAAgQAIEIgFYCdQBAQQQAABBBBAAIFoC7B1CCQKEIglivAbAQQQQAABBBBAAAEEEMiyQA4CsSxvAdkjgAACCCCAAAIIIIAAAiETIBAL2Q6juCkKkAwBBBBAAAEEEEAAgQALEIgFeOdQNAQQCJcApUUAAQQQQAABBFIVIBBLVYp0CCCAAAIIBE+AEiGAAAIIhFSAQCykO45iI4AAAggggAAC+RFgrQggkAkBArFMKJIHAggggAACCCCAAAIIZE8ggjkTiEVwp7JJCCCAAAIIIIAAAgggEGwBArFg7x+VjgEBBBBAAAEEEEAAAQQiJkAgFrEdyuYgkBkBckEAAQQQQAABBBDIpgCBWDZ1yRsBBBBAIHUBUiKAAAIIIFBAAgRiBbSz2VQEEEAAAQQQKCrALwQQQCBfAgRi+ZJnvQgggAACCCCAAAKFKMA2I+AECMQcAx8IIIAAAggggAACCCCAQO4EchuIbduuRYsWWf/+/a1KlSrmeZ41bNjQbrrpJlu3bt22FMVHCxYssJ49e7r0Wm7IkCG2atWq4gm3TQla+m3FYoQAAggggAACCCCAAAIIWM4DsWnTptlee+1l//znP61BgwZWo0YNW7ZsmV1yySUu0Fq5cmWx3aJl2rdv79KvXr3aFMjNmjXLevfubWFIX2yDmJBTAVaGAAIIIIAAAggggEDQBHIaiKnGSzVfI0eOtPXr17uASoHUAw88YJUqVbLXXnvNbr311iJGCtIGDhxoLVq0MC2nwE0B3OjRo23GjBk2dOhQ27RpU2yZoKWPFYwvCCBQSAJsKwIIIIAAAgggUKpATgMxNRfs3r27DRo0yLbffntXsO22284UaF1++eXu95QpU2zNmjXuuz7Gjh1rs2fPNi1Xr149TXJD8+bNrUuXLjZmzBibPn26m6aPoKVXmRgQQAABBBDIvgBrQAABBBAIk0BOA7HWrVvbmWee6Z7zikfyPM+OO+44q1atmqvd2rx5s5utGrTx48e77506dXJj/6Nq1arWrl0727Bhg7388stuctDSu0LxgQACCCCAAAIIRFWA7UIAgXIL5DQQK62UaproeZ7ttttu7rkxpV26dKnNnDnTqlevbk2aNNGkIkObNm3cb9WIqalj0NK7wvGBAAIIIIAAAggggAACGROISkaBCcQWL17snhs76aSTYjVmK1ascD0j1qpVy+rWrVvMXNM1Uc+FqTYsaOlVNgYEEEAAAQQQQAABBBBAIFEgEIGYmiJOmjTJjjnmGOvatWusjEuWLLG1a9e6bu7VbDE2I+GLAjHViAUtfUIxM/CTLBBAAAEEEEAAAQQQQCAKAoEIxD744ANTIDZixAj3nFgUYMuzDeoFkmGG6w0ThwA5zKAsHI8cAxwDHAMcAxwDHAOFcQyU5xq+vMvkPRBT9/VXXXWV3XDDDbbnnnsW2Y5GjRqlFJg1bdrUatasaUFLb/yHAAIIIFAuARZCAAEEEEAg6gJ5DcQ2btxoV1xxhR199NHWu3fvYtbqrr527dqmZ7/U/DAxwZw5c9ykhg0buoAtaOld4dL42HfffY0BA44BjgGOAY4BjoG8HAP8DeY6hGOAYyCNK/eKJ81bIKbnwm677TZTbdaf/vSnWAcd8ZvUoEEDa9mypa1evdqWL18eP8t9Vwcf+tKhQwerXLmyBS29ysaAAAIIIIAAAggggEByAaYWskBeAjEFYY899pipy/oLLrggaRCmnaLmhn369DGlV7tcTfMHBWezZs2yOnXqWI8ePdzkoKV3heIDAQQQQAABBBBAAAEEEEgQyHkgpqBKQdiiRYvsvPPOs+22265IkT777DO79dZbXfClGX379nXPjo0bN870PJmmaZg7d67p/WH9+vWzVq1aaZIbgpbeFYoPBBBAAAEEEEAAAQQQQCBOIKeBmIKwUaNG2YABA+zOO++0PfbYwzVNVPNEDX7TwtatW8dqyTRtzJgxNm/ePNOyel/Y/PnzbfDgwda5c2dTT4tqluhvU9DS++ViHAgBCoEAAggggAACCCCAQCAEchqIKZC66KKL7Oeff7alS5faV199VWTQc2D77LOP7b///kVwOnbsaFOmTHFd3FevXt30u1evXjZhwgRTZx5FEm/5oflBSr+lSPyPAAIFK8CGI4AAAggggAACxQVyGohdeOGFrsmhasZKGtTcsG7dusVK2qZNG5s6dapbXr0oDhs2zGrUqFEsnT8haOn9cjFGAAEEEEAg6wKsAAEEEEAg8AI5DcQCr0EBEUAAAQQQQAABBMolwEIIIJCeAIFYel6kRgABBBBAAAEEEEAAgWAIhLoUBGKh3n0UHgEEEEAAAQQQQAABBMIoQCAWxr2mMjMggAACCCCAAAIIIIBAaAUIxEK76yg4ArkXYI0IIIAAAggggAACmREgEMuMI7kggAACCGRHgFwRQAABBBCIpACBWCR3KxuFAAIIIIAAAuUXYEkEEEAg+wIEYtk3Zg0IIIAAAggggAACCJQuwNyCEyAQK7hdzgYjgAACCCCAAAIIIIBAvgWCEIjl24D1I4AAAggggAACCCCAAAI5FSAQyyk3KwuOACVBAAEEEEAAAQQQQCB/AgRi+bNnzQggUGgCbC8CCCCAAAIIILBNgEBsGwQjBBBAAAEEoijANiGAAAIIBFOAQCyY+4VSIYAAAggggAACYRWg3AggkIIAgVgKSCRBAAEEEEAAAQQQQACBIAuEr2wEYuHbZ5QYAQQQQAABBBBAAAEEQi5AIBbyHajiMyCAAAIIIIAAAggggEC4BAjEwrW/KC0CQRGgHAgggAACCCCAAAIVECAQqwAeiyKAAAII5FKAdSGAAAIIIBAdAQKx6OxLtgQBBBBAAAEEMi1AfggggECWBAjEsgRLtggggAACCCCAAAIIlEeAZQpDgECsMPYzW4kAAggggAACCCCAAAIBEghYIBYgGYqCAAIIIIAAAggggAACCGRJgEAsS7BkGyIBiooAAggggAACCCCAQI4FCMRyDM7qEEAAAQkwIIAAAggggEBhCxCIFfb+Z+sRQAABBApHgC1FAAEEEAiQAIFYgHYGRUEAAQQQQAABBKIlwNYggEBJAgRiJckwHQEEEEAAAQQQQAABBMInEJISE4iFZEdRTAQQQAABBBBAAAEEEIiOAIFYdPaltoQBAQQQQAABBBBAAAEEQiBAIBaCnUQREQi2AKVDAAEEEEAAAQQQSFeAQCxdMdIjgAACCORfgBIggAACCCAQcgECsZDvQIqPAAIIIIAAArkRYC0IIIBAJgUIxDKpSV4IIIAAAggggAACCGROgJwiLEAgFuGdy6YhgAACCCCAAAIIIIBAMAWCG4gF04tSIYAAAggggAACCCCAAAIVFiAQqzAhGURJgG1BAAEEEEAAAQQQQCAXAgRiuVBmHQgggEDJAsxBAAEEEEAAgQIUIBArwJ3OJiOAAAIIFLoA248AAgggkG8BArF87wHWjwACCCCAAAIIFIIA24gAAkUECMSKcPADAQQQQAABBBBAAAEEoiIQ5O0gEAvy3qFsCCCAAAIIIIAAAgggEEkBArFI7lZtFAMCCCCAAAIIIIAAAggEVYBALKh7hnIhEEYByowAAggggAACCCCQkgCBWEpMJEIAAQQQCKoA5UIAAQQQQCCMAgRiYdxrlBkBBBBAAAEE8inAuhFAAIEKCxCIVZiQDBBAAAEEEEAAAQQQyLYA+UdNgEAsanuU7UEAAQQQQAABBBBAAIHAC4QiEAu8IgVEAAEEEEAAAQQQQAABBNIQIBBLA4ukwRT4eNEcO/uhIdbiwnbW5NwWmRrIJ4KWOkZ0rOiYCebRTKkQQAABBBBAoFAECMQKZU9HdDt1QX3cLSfZhBnP25of10R0K9msTAnoGNGxomNGx06m8s1cPuSEAAIIIIAAAoUikNdA7LvvvrNrr73Wjj/+eFu9enWp5ps2bbL+/fub53lFhl133dW+/PLLYssuWLDAevbs6dJWqVLFhgwZYqtWrSqWzp+Q7fT+ehhnVuCuV+6z9RvXZzZTcou8gI4ZHTuR31A2EIFUBEiDAAIIIJAXgbwEYt9++61ddtll1qpVK7vyyitt5cqVZW789OnTbezYscXSDRo0yHbbbbci06dNm2bt27e3Bg0auABv0aJFNmvWLOvdu3fSdWU7fZHC8SOjAq9+PDmj+ZFZ4Qhw7BTOvmZLEUAgeAKUCAEEzPISiO288852ww032AsvvGDVqlUrcz9s3LjR7rzzTpswYYJt3ry5yDB8+PAiyy9btswGDhxoLVq0sJEjR1qNGjVcQDZ69GibMWOGDR061FS7Ztv+y3b6bathlCUBNTXLUtZkG3EBjp2I72A2DwEEEEAAgaICgfuVl0DMV1Czwvr16/s/Sxy/++679vPPP1vXrl1LTOPPUK3Z7NmzrXv37lavXj1/sjVv3ty6dOliY8aMMdWu+TOynd5fD2MEEEAAAQQQQAABBBBAwBfIayDmF6K0sWrD7rjjDnvyySetdevWrpZLz5YlW2bdunU2fvx4N6tTp05u7H9UrVrV2rVrZxs2bLCXX37ZTc52ereSIHxQBgQQQAABBBBAAAEEEAiUQOADMdWGqUmi1BYuXGiXXnqpNW7c2G666SZTkKbp/rB06VKbOXOmVa9e3Zo0aeJPjo3btGnjvqtGbP369Zbt9G5lfCBQoAJsNgIIIIAAAggggEDJAoEPxA466CDX4YaCsHvuucf22GMPF4Bdcskldt5557nv/uatWLHC9YxYq1Ytq1u3rj85NtZ0/dBzYaoNy3Z6rYsBAQQQQCBnAqwIAQQQQACB0AgEPhCT5Pbbb29Nmza1s846y+bOnWu33XabVapUye6991579tlnlcQNS5YssbVr15q6qy+tExAFYqoRy3Z6KUIaLQAAEABJREFUVyg+EEAAAQQQQCDCAmwaAgggUD6BUARi8Zu23XbbuZow9bqoHhQffPBBU1AVnyas39WrI8MM17tlqg5h3deUOxgCqR5npEvvvMQLL44BjgGOgSwfAzPIP1vHWC6vUEIXiAnH8zw744wzrEOHDvbpp5/G3g3WqFGjlLrDV+1azZo1Ldvpjf8QQAABBBBAAAEEEEAAgSQCYQvEYpugrunVM6LeCaau7TVD02rXrm169kvNDzUtfpgzZ4772bBhQxewZTu9W1kaH/vuu68xpGeQBi9JESgmwPmW3vmGF14cAxwDHAMcA1E/BopdLGRxQmgDMZnssssu1rZt21jHHA0aNLCWLVu6zj2WL1+uJEWGxYsXu9+qSatcubJ70XM207uV8REBATYBAQQQQAABBBBAAIHMCoQ2EFPX9dOmTbP+/ftb1apVnYqaG/bp08f07JjajbqJ2z5Wr15ts2bNsjp16liPHj3c1GyndyvhAwEEECiPAMsggAACCCCAQKQFAhGIrVmzpkg39L64Aiq9F0yDvvvTNZ44caL9+OOP1qtXL/2MDX379rU999zTxo0bF3t2TDPV26LeH9avXz9r1aqVJrkh2+ndSvhAAAEEEEAgBAIUEQEEEEAgdwJ5C8QUWE2dOtXUhbye3froo49cTVb8pus5r969e1u7du3s5JNPNgVk8+fPtyFDhtgzzzxjjz76qKlWK34ZNU8cM2aMzZs3z0aNGmV6X5iWGTx4sHXu3NlGjBhhapboL5Pt9P56GCOAAAIIIIAAAggUE2ACAgUrkJdAbOnSpdasWTM78cQTTZ1t6N1fXbt2tUMOOcQ93+XvDQVJ119/vdWvX9+efPJJ22effWzAgAHWvXt3e+yxx2ynnXbykxYZd+zY0aZMmWKTJk2y6tWrm36r5mzChAmmzjyKJN7yQ/OzmX7LKvgfAQQQQAABBBBAAAEEAiEQjEJUykcxGjdubAsXLnQ1YKoZ84fJkycXqeHyPM9OOukkU82Y0vz0008uwNIzXnqfWGllb9OmjanGTcupF8Vhw4ZZjRo1Slwk2+lLXDEzEEAAAQQQQAABBBBAoOAE8hKIFZxygDaYoiCAAAIIIIAAAggggED+BQjE8r8PKAECURdg+xBAAAEEEEAAAQQSBAjEEkD4iQACCCAQBQG2AQEEEEAAgWALEIgFe/9QOgQQQAABBBAIiwDlRAABBNIQIBBLA4ukCCCAAAIIIIAAAggESYCyhFeAQCy8+46SI4AAAggggAACCCCAQEgFQhyIhVScYiOAAAIIIIAAAggggEDBCxCIFfwhAEBaAiRGAAEEEEAAAQQQQCADAgRiGUAkCwQQQCCbAuSNAAIIIIAAAtETIBCL3j5lixBAAAEEEKioAMsjgAACCGRZgEAsy8BkjwACCCCAAAIIIJCKAGkQKCwBArHC2t9sLQIIIIAAAggggAACCPgCeRwTiOURn1UjgAACCCCAAAIIIIBAYQoQiBXmftdWMyCAAAIIIIAAAggggECeBAjE8gTPahEoTAG2GgEEEEAAAQQQQEACBGJSYEAAAQQQiK4AW4YAAggggEAABQjEArhTKBICCCCAAAIIhFuA0iOAAAJlCRCIlSXEfAQQQAABBBBAAAEEgi9ACUMmQCAWsh1GcRFAAAEEEEAAAQQQQCD8AtEIxMK/H9gCBBBAAAEEEEAAAQQQKCABArEC2tlsamYFyA0BBBBAAAEEEEAAgfIKEIiVV47lEEAAgdwLsEYEEEAAAQQQiIgAgVhEdiSbgQACCCCAQHYEyBUBBBBAIBsCBGLZUCVPBBBAAAEEEEAAgfILsCQCBSBAIFYAO5lNRAABBBBAAAEEEEAAgdIFcj2XQCzX4qwPAQQQQAABBBBAAAEECl6AQKzgDwEBMCCAAAIIIIAAAggggEAuBQjEcqnNuhBA4BcBviGAAAIIIIAAAgUsQCBWwDufTUcAAQQKTYDtRQABBBBAICgCBGJB2ROUAwEEEEAAAQSiKMA2IYAAAkkFCMSSsjARAQQQQAABBBBAAIGwClDuMAgQiIVhL1FGBBBAAAEEEEAAAQQQiJRA5AKxSO0dNgYBBBBAAAEEEEAAAQQiKUAgFsndykblWIDVIYAAAggggAACCCCQlgCBWFpcJEYAAQSCIkA5EEAAAQQQQCDMAgRiYd57lB0BBBBAAIFcCrAuBBBAAIGMCRCIZYySjBBAAAEEEEAAAQQyLUB+CERVgEAsqnuW7UIAAQQQQAABBBBAAIHyCORkGQKxnDCzEgQQQAABBBBAAAEEEEDgFwECsV8s+CYBBgQQQAABBBBAAAEEEMi6AIFY1olZAQIIlCXAfAQQQAABBBBAoNAECMQKbY+zvQgggAACEmBAAAEEEEAgrwIEYnnlZ+UIIIAAAgggUDgCbCkCCCDwiwCB2C8WfEMAAQQQQAABBBBAIFoCbE1gBQjEArtrKBgCCCCAAAIIIIAAAghEVSDKgVhU9xnbhQACCCCAAAIIIIAAAiEXIBAL+Q6k+EEToDwIIIAAAggggAACCJQtQCBWthEpEEAAgWALUDoEEEAAAQQQCJ0AgVjodhkFRgABBBBAIP8ClAABBBBAoGICBGIV82NpBBBAAAEEEEAAgdwIsBYEIiVAIBap3cnGIIAAAggggAACCCCAQOYEspcTgVj2bMkZAQQQQAABBBBAAAEEEEgqkNdA7LvvvrNrr73Wjj/+eFu9enXSAvoTFyxYYD179jTP86xKlSo2ZMgQW7VqlT+72Dho6YsVMAQTKCICCCCAAAIIIIAAAghkR6BSdrItPddvv/3WLrvsMmvVqpVdeeWVtnLlylIXmDZtmrVv394aNGjgArZFixbZrFmzrHfv3kmXDVr6UjeOmQggEC/AdwQQQAABBBBAoCAE8hKI7bzzznbDDTfYCy+8YNWqVSsVetmyZTZw4EBr0aKFjRw50mrUqOECstGjR9uMGTNs6NChtmnTJvP/C1p6v1yMEUAAAQSCKkC5EEAAAQQQyL1AXgIxfzN33XVXq1+/vv8z6Xjs2LE2e/Zs6969u9WrVy+Wpnnz5talSxcbM2aMTZ8+PTY9aOljBeMLAggggAACCCDgCzBGAIGCF8hrIFaW/rp162z8+PEuWadOndzY/6hataq1a9fONmzYYC+//LKbHLT0rlB8IIAAAggggAACCCAQAAGKECyBQAdiS5cutZkzZ1r16tWtSZMmxeTatGnjpqlGbP369Ra09K5wfCCAAAIIIIAAAggggAACCQKBDsRWrFjhekasVauW1a1bN6HoZpquiXouTLVhJadXqtyn37pWPhFAAAEEEEAAAQQQQACBogKBDsSWLFlia9eudd3Vl9aphwIx1YgFLX1R6rJ/qfMRhhmuE5ZUHcpWzWMKVh14gVSPM9Kld17ihRfHAMcAxwDHQFiPgVxevAQ6EMslBOtCAAEEoiDANiCAAAIIIIBAOAQCHYg1atSozO7txdy0aVOrWbOmBS29pfnfvvvuawzpGaRJTHIEighwvqV3vuGFVwnHAH+7+PvNMcAxEJljoMiFQpZ/BDoQU3f1tWvXNj37peaHiRZz5sxxkxo2bOgCtqCld4XjAwEEEEAAAQQQQCDDAmSHQPgFAh2INWjQwFq2bGmrV6+25cuXF9NevHixm9ahQwerXLmyBS29KxwfCCCAAAIIIIAAAgggEH6BDG9BoAMxNTfs06ePbd682XXgEL/tCs5mzZplderUsR49erhZQUvvCsUHAggggAACCCCAAAIIIJAgEIhAbM2aNbZx48aEom392bdvX9tzzz1t3LhxtnLlyq0Tt3zOnTvX9P6wfv36WatWrbZM2fp/0NJvLVXoP9kABBBAAAEEEEAAAQQQyKBA3gIx1XJNnTrV1OW8nvX66KOPXM1X4rapueGYMWNs3rx5NmrUKNP7wubPn2+DBw+2zp0724gRI1yzRH+5oKX3y8UYAQTSFSA9AggggAACCCAQXYG8BGJLly61Zs2a2YknnmibNm1y7wrr2rWrHXLIIe55sETujh072pQpU2zSpElWvXp10+9evXrZhAkTTJ15BD19Yvn4jQACCCAQUAGKhQACCCCAQI4E8hKINW7c2BYuXOhqwFQz5g+TJ0923dAn2/Y2bdqYatCUVr0oDhs2zGrUqJEsqZsWtPSuUHwggAACCCCAAAIJAvxEAIHCFMhLIFaY1Gw1AggggAACCCCAAAKBEKAQARAgEAvATqAICCCAAAIIIIAAAgggUFgChReIFdb+ZWsRQAABBBBAAAEEEEAggAIEYgHcKRQpegJsEQIIIIAAAggggAAC8QIEYvEafEcAAQSiI8CWIIAAAggggECABQjEArxzKBoCCCCAAALhEqC0CCCAAAKpChCIpSpFOgQQQAABBBBAAIHgCVAiBEIqQCAW0h1HsRFAAAEEEEAAAQQQQCA/AplYK4FYJhTJAwEEEEAAAQQQQAABBBBIQ4BALA0skkqAAQEEEEAAAQQQQAABBCoqQCBWUUGWRwCB7AuwBgQQQAABBBBAIGICBGIR26FsDgIIIIBAZgTIBQEEEEAAgWwKEIhlU5e8EUAAAQQQQACB1AVIiQACBSRAIFZAO5tNRQABBBBAAAEEEECgqAC/8iVAIJYvedaLAAIIIIAAAggggAACBStQ0IFYwe51NhwBBBBAAAEEEEAAAQTyKkAglld+Vl6AAmwyAggggAACCCCAAAJGIMZBgAACCERegA1EAAEEEEAAgaAJEIgFbY9QHgQQQAABBKIgwDYggAACCJQqQCBWKg8zEUAAAQQQQAABBMIiQDkRCJMAgViY9hZlLSbwYZVaxoBBeY+BYgcUExBAAAEEEEAAgfQEyp2aQKzcdCyIAAIIIIAAAggggAACCJRPgECsfG4sJQEGBBAoWIGPF82xsx8aYi0ubGdNzm3BgEGJx4COER0rOmYK9oRhwxFAAIEkAgRiSVCYhAACwRWgZPkX0AX1cbecZBNmPG9rflyT/wJRgkAL6BjRsaJjRsdOoAtL4RBAAIEcChCI5RCbVSGAAAJRELjrlfts/cb1UdiUVLeBdBkQ0DGjYycDWZEFAgggEAkBArFI7EY2AgEEEMidwKsfT87dylhTpAQ4dtLZnaRFAIGoCxCIRX0Ps30IIIBAhgXU1CzDWZJdgQhw7BTIjmYzwytAyXMqQCCWU25WhgACCCCAAAIIIIAAAgiYEYhtPQr4RAABBBBAAAEEEEAAAQRyJkAgljNqVoRAogC/EUAAAQQQQAABBApVgECsUPc8240AAoUpwFYjgAACCCCAQCAECMQCsRsoBAIIIIAAAtEVYMsQQAABBIoLEIgVN2EKAggggAACCCCAQLgFKD0CgRcgEAv8LqKACCCAAAIIIIAAAgggEHyB9EpIIJaeF6kRQAABBBBAAAEEEEAAgQoLEIhVmJAMJMCAAAIIIIAAAggggAACqQsQiKVuRUoEEAiWAKVBAMPWYBoAABAASURBVAEEEEAAAQRCK0AgFtpdR8ERQAABBHIvwBoRQAABBBDIjACBWGYcyQUBBBBAAAEEEMiOALkigEAkBQjEIrlb2SgEEEAAAQQQQAABBMovwJLZFyAQy74xa0AAAQQQQAABBBBAAAEEiggQiBXh0A8GBBBAAAEEEEAAAQQQQCC7AgRi2fUldwRSEyAVAggggAACCCCAQEEJEIgV1O5mYxFAAIFfBPiGAAIIIIAAAvkTIBDLnz1rRgABBBBAoNAE2F4EEEAAgW0CBGLbIBghgAACCCCAAAIIRFGAbUIgmAIEYsHcL5QKAQQQQAABBBBAAAEEwiqQQrkJxFJAIgkCCCCAAAIIIIAAAgggkEkBArFMapKXBBgQQAABBBBAAAEEEECgDAECsTKAmI0AAmEQoIwIIIAAAggggEC4BAjEwrW/KC0CCCCAQFAEKAcCORL4eNEcO/uhIdbiwnbW5NwWDBiUeAzoGNGxomMmR4cnq6mAAIFYBfBYFAEEEEAAAQQQyKaALqiPu+UkmzDjeVvz4xrL5rrIO/wCOkZ0rOiY0bET/i2K9haEJhDbtGmT9e/f3zzPKzLsuuuu9uWXXxbbSwsWLLCePXu6tFWqVLEhQ4bYqlWriqXzJ2Q7vb8exggggAACCCCAQKoCd71yn63fuD7V5KRDwAnomNGx435U/IMcsiQQmkBs+vTpNnbs2GIMgwYNst12263I9GnTpln79u2tQYMGtnr1alu0aJHNmjXLevfubStXriySVj+ynV7rYEAAAQQQQAABBNIVePXjyekuQnoEnADHjmMI9EcoArGNGzfanXfeaRMmTLDNmzcXGYYPH14EeNmyZTZw4EBr0aKFjRw50mrUqOECstGjR9uMGTNs6NChpto12/ZfqekzkH7bahghgAACCCCAAAJpC6ipWdoLsQACWwQ4drYgBPz/UARi7777rv3888/WtWvXMjlVazZ79mzr3r271atXL5a+efPm1qVLFxszZoypds2fke30/noYI5CqAOkQQAABBBBAAAEEoi8Q+EBMtWF33HGHPfnkk9a6dWtXy/Xdd98l3TPr1q2z8ePHu3mdOnVyY/+jatWq1q5dO9uwYYO9/PLLbnK207uV8IEAAggEX4ASIoAAAggggECOBQIfiKk2TE0S5bJw4UK79NJLrXHjxnbTTTeZgjRN94elS5fazJkzrXr16takSRN/cmzcpk0b9101YuvXr7dsp3cr4wMBBBBAAAEEkggwCQEEEChsgcAHYgcddJDrcENB2D333GN77LGHC8AuueQSO++889x3fxeuWLHC9YxYq1Ytq1u3rj85NtZ0/dBzYaoNy3Z6rYsBAQQQQAABBBBAICACFAOBAAkEPhCT1fbbb29Nmza1s846y+bOnWu33XabVapUye6991579tlnlcQNS5YssbVr15q6q69WrZqbluxDgZhqxLKdPtm6mYYAAggggAACCCCAAAKFI1DSloYiEIsv/Hbbbedqwm644QbXe+KDDz5oCqri04T1u3p1ZJjherdM1SGs+5pyB0Mg1eOMdEXPy2DsPUoRVgHOp6LnU1keYd3PlDsYAmUdX8wvfj7mcs+FLhATjud5dsYZZ1iHDh3s008/jb0brFGjRlZaTZiW1aDatZo1a1q201vB/wcAAggggAACCCCAAAIIJBMIZSCmDVHX9OoZUe8EU9f2/rTatWubnv1S80NNix/mzJnjfjZs2NAFbMojm+ndytL42HfffY0hPYM0eElaKAJpbCfnW3rnm++VBjFJESgm4B9HjFM7/4oBMgGBNAQ4z1I7z+Kd0uCtcNLQBmLa8l122cXatm0b65ijQYMG1rJlS9e5x/Lly5WkyLB48WL3WzVplStXtmyndyvjAwEEEEAg8gJsIAIIIIAAAukKhDYQU9f106ZNs/79+1vVqlXddqu5YZ8+fdyzY2rz6iZu+1i9erXNmjXL6tSpYz169HBTs53erYQPBBBAAAEEEEAg8wLkiAACIRcIdCC2efNm914wvRtM3+OtJ06caD/++KP16tUrfrL17dvX9txzTxs3blzs2TElUG+Len9Yv379rFWrVprkhmyndyvhAwEEEEAAAQQQQACB0AuwAZkUCHQgpue8evfube3atbOTTz7ZBWXz58+3IUOG2DPPPGOPPvqoqVYrHkTNDceMGWPz5s2zUaNGmd4XpmUGDx5snTt3thEjRpiaJfrLZDu9vx7GCCCAAAIIIIAAAggggIAvEOhATEHS9ddfb/Xr17cnn3zS9tlnHxswYIB1797dHnvsMdtpp5387Sgy7tixo02ZMsUmTZpk1atXN/1WzdmECRNMnXMUSbzlh+aXlX5Lstj/6aaPLcgXBBBAAAEEEEAAAQQQQGCLQKUtQ2D/9zzPTjrpJFPNmJom/vTTTy7A0jNeep9YaQVv06aNTZ061T0vpl4Uhw0bZjVq1ChxkWynL3HFzECgZAHmIIAAAggggAACCERUINCBWETN2SwEEEAgwAIUDQEEEEAAAQRyIUAglgtl1oEAAggggAACJQswBwEEEChAAQKxAtzpbDICCCCAAAIIIFDoAmw/AvkWIBDL9x5g/QgggAACCCCAAAIIIFAIAkW2kUCsCAc/EEAAAQQQQAABBBBAAIHsCxCIZd+YNUiAAQEEEEAAAQQQQAABBGICBGIxCr4ggEDUBNgeBBBAAAEEEEAgqAIEYkHdM5QLAQQQCKjAh1VqGUOJBtiUcXwE9LCmWAgggEDOBQjEck7OChFAAAEEEEAAgUwKkBcCCIRRgEAsjHuNMiOAAAIIIIAAAgggkE8B1l1hAQKxChOSAQIIIIAAAggggAACCCCQngCBWHpeSs2AAAIIIIAAAggggAACCFRIgECsQnwsjECuBFgPAggggAACCCCAQJQECMSitDfZFgQQQCCTAuSFAAIIIIAAAlkTIBDLGi0ZI4AAAggggEC6AqRHAAEECkWAQKxQ9jTbiQACCCCAAAIIIJBMgGkI5EWAQCwv7KwUAQQQQAABBBBAAAEEClfAjECskPc+244AAggggAACCCCAAAJ5ESAQywt7Ya+UrUcAAQQQQAABBBBAoNAFCMQK/QgI+fa3XdHLGDBI4RhIepyE/PCn+AgggAACCCAQYgECsRDvPIqOAAIIIBBkAcqGAAIIIIBAyQIEYiXbMAcBBBBAAAEEEMirwIdVallaA+nxijsG8nrwsvIyBQjEyiQiAQIIIIAAAggggAACCJQkwPTyCRCIlc+NpRBAAAEEEEAAAQQQQACBcgsQiJWbTgsyIIAAAggggAACCCCAAALpCxCIpW/GEgjkV4C1I4AAAggggAACCIRegEAs9LuQDUAAAQSyL8AaEEAAAQQQQCCzAgRimfUkNwQQQAABBBDIjAC5IIAAApEWIBCL9O5l4xBAAAEEEEAAAQRSFyAlArkTIBDLnTVrQgABBBBAAAEEEEAAAQScQCwQc7/4QAABBBBAAAEEEEAAAQQQyLoAgVjWiVlBKQLMQgCBEAq0XdHLGDAo7zEQwkOeIiOAAAJZESAQywormSKAQHAFKBkCCCCAAAIIIJB/AQKx/O8DSoAAAgggEHUBtg8BBBBAAIEEAQKxBBB+IoAAAggggAACURBgGxBAINgCBGLB3j+UDgEEEEAAAQQQQACBsAhQzjQECMTSwCIpAggggAACCCCAAAIIIJAJAQKxTCgqDwYEEEAAAQQQQAABBBBAIEUBArEUoUiGQBAFKBMCCCCAAAIIIIBAOAUIxMK53yg1AgggkC8B1osAAggggAACGRAgEMsAIlkggAACCCCAQDYFyBsBBBCIngCBWPT2KVuEAAIIIIAAAgggUFEBlkcgywIEYlkGJnsEEEAAAQQQQAABBBBAIFEgWSCWmIbfCCCAAAIIIIAAAggggAACGRQgEMsgJllVRIBlEUAAAQQQQAABBBAoHAECscLZ12wpAggkCvAbAQQQQAABBBDIkwCBWJ7gWS0CCCCAQGEKsNUIIIAAAghIgEBMCgwIIIAAAggggEB0BdgyBBAIoACBWAB3CkVCAAEEEEAAAQQQQCDcApS+LAECsbKEmI8AAggggAACCORJoO2KXsaAQXmPgTwdtqw2RQECsRSh0klGWgQQQAABBBBAAAEEEECgNAECsdJ0Spm3YMEC69mzp3meZ1WqVLEhQ4bYqlWrSlmCWQhkVYDMEUAAAQQQQAABBEIkUClEZQ1MUadNm2bt27e3Bg0a2OrVq23RokU2a9Ys6927t61cuTIw5aQgCCCAQHYFyB0BBBBAAAEEyitAIJam3LJly2zgwIHWokULGzlypNWoUcMFZKNHj7YZM2bY0KFDbdOmTcZ/CCCAAAIIIJAFAbJEAAEEIiJAIJbmjhw7dqzNnj3bunfvbvXq1Yst3bx5c+vSpYuNGTPGpk+fHpvOFwQQQAABBBBAAIFwC1B6BLIhQCCWhuq6dets/PjxbolOnTq5sf9RtWpVa9eunW3YsMFefvllfzJjBBBAAAEEEEAAAQQQQKCYQBmBWLH0BT1h6dKlNnPmTKtevbo1adKkmEWbNm3cNNWIrV+/3n3nAwEEEEAAAQQQQAABBBBIFCAQSxQp5feKFStcz4i1atWyunXrFkup6Zqo58hUe6bvDOUQYBEEEEAAAQQQQAABBCIuQCCWxg5esmSJrV271nVXX61atRKXVCBGjViJPMxAIJACFAoBBBBAAAEEEMilAIFYLrXLWNd+++1nDOkZlEHKbARKFeB8S+98871KRWVmOgIFmdY/jhindv4V5EHCRmdMgPMstfMs3ilj+ClkRCCWApKfpFGjRlZaTZifrmnTplazZk3/J2MEEEAAAQQQQCAgAhQDAQSCIkAglsaeUHf1tWvXNj0rpuaHiYvOmTPHTWrYsGFKAZtLHPfx/vvvG0N6BsseutIYMCjvMcD5lt755nuV15vlOFd1DPjHEePUzj+ZMXDulPcYCMx5FqJr3LhL86x/JRBLg7hBgwbWsmVLW716tS1fvrzYkosXL3bTOnToYJUrV3bf+UAAAQQQQAABBBBAAAEEEgUIxBJFSvmt5oZ9+vSxzZs324wZM4qkVHA2a9Ysq1OnjvXo0cOfxxgBBBBAAAEEEEAAAQQQKCZAIFaMpPQJffv2tT333NPGjRtnK1eujCWeO3eu6f1h/fr1s1atWsWm8wWB3AuwRgQQQAABBBBAAIGgCxCIpbmH1DxxzJgxNm/ePBs1apTpfWHz58+3wYMHW+fOnW3EiBE0S0zTlOQIIBABATYBAQQQQAABBNISIBBLi2tr4o4dO9qUKVNs0qRJVr16ddPvXr162YQJE0ydeWxNxScCCCCAAAIIZFOAvBFAAIEwCxCIlXPvtWnTxqZOneqeF1MvisOGDbMaNWqUMzcWQwABBBBAAAEEEAiBAEVEIGMCBGIZoyQjBBBAAAEEEEAAAQQQQCA1gdQDsdTyIxUCCCCAAAIIIIDyZz2pAAAQAElEQVQAAggggEAZAgRiZQAxO78CrB0BBBBAAAEEEEAAgSgKEIhFca+yTQggUBEBlkUAAQQQQAABBLIuQCCWdWJWgAACCCCAQFkCzEcAAQQQKDQBArFC2+NsLwIIIIAAAgggIAEGBBDIqwCBWF75WTkCwReYOXOm1a9f34455hhbvXp1rMBr1qyxhx9+2Jo3b2433nhjbDpfEEAAAQQKV+Cnn36yd955x44++mgbOHBg4UKw5SUKMOMXAQKxXyz4hkBWBWbMmOHeNed5nnle2UOtWrVMQVBWC1XOzL/44gsbOnSoXXbZZfb555+XMxcWQ6C4wLPPPlvi+aF5xZdgCgIIxAvohlm3bt2KnUe//vWvbenSpabzyPOK/w3SMlrWz0s32DyvaDot689PNv7f//5nI0aMcAHYSy+9ZArKkqVLZdppp51WbBs8r2h5dtppJzvqqKPs+eefr9C6UikPaRDIhgCBWDZUk+bJxEIX2HfffV2N0ptvvmnVq1d3HBMnTrTNmzcXGX7++WcXgP32t7+1TZs2uXT5/Nh7771t+fLl9sILL1jNmjVdUXbffXe744477M9//rP7zQcCmRLo2bOnbdiwwa677rpYlv/3f//npmlebGKWvuiC7j//+U+WcidbBLIvoH+nX3vtNbv33ntdIKM1Kqj59NNPrXHjxqbz6JtvvrFDDjlEs1yaf/zjH/bGG2/E/o3XjEsvvdSU7sADD7QWLVrY/Pnz3bKaV9Kw44472rBhw+ymm24qKUnK0x955BH3N/MPf/iDW6Zp06a2ZMmS2N/Lb7/91kaNGuX+Xh577LGmYeXKlS4tHwiERYBALCx7inJGQsDzPGvTpo01a9asxO3xPM8UhKm2qVKlCp6iJa4lMzO22267zGRELgjECWy//fZ25JFHuhsWummhZrGaFpckK183btxo48ePN90MycoKyBSBHAno3+aTTz7ZDj74YLdGtbCoVq2a+66PBg0a2OjRo61OnTr66Zqfe57nvsd/aLmdd97ZpVUz9Ph5pX1v1KiRxa+vtLSlzatRo4b97ne/S5qkXr16dvrpp9vUqVNNNwdVA3frrbcmTctEBIIqEOyrvKCqUS4EKiBQtWpV90evrCx69Ohh7du3LysZ8xEInEBYC/Tiiy+6QCys5afcCMQLqGasT58+bpJqyFSD5H5s+2jVqpVr1qdWGaoN2za5yEg1UGqumO7fIt1E9LzigV2RzDP0o1mzZtavXz+Xm2q0V6xY4b7zgUAYBCqFoZCUEQEEEEAAgWwKfPLJJ3b++efb2rVrs7ka8s6eADknEdANvV122cV0fL///vtFUlSuXDlW2zR27FjXDLFIgi0/1CS9devW1rBhwy2/gvu/as5UOp2/FXkuTXkwIJBLAQKxXGqzLgRSENBzYWr3rruQfnL9Yfnoo49M7fx/85vfuAeu58yZY507d3bt+9XMRHfzlX7VqlU2ZMgQq1Klipv3+9//3hLbzesO6DPPPGO6I+p5nkunu4r3339/kQee1VTr7bffdr1fHX744a69vtbBgEC+BHQuqEe2k046yTVf1Hny5ptvWtu2bd1xrIvGDz/8sEjxdBzfcsstVrduXZdGF5W9e/e2iy66yKV75ZVXrFOnTqZOaHQht99++7l0Ot9cgi0fOg/8883zPHdhes0119i6deu2zC36v6bpGUpdAHve1vPL84qO1emByjVp0iR3fql3OZ2nurOv2gSdw/q3INVzVc/yjBw50vRvgfLWvwPnnXeeqYmaBjV11vrk98QTT5hftmReRbeGX2EW+NWvfmUHHXSQe67qqaeecuP47VEnUvo9d+5cS3w2Usfx5MmTrX///koSGxYtWuSm+X9j1GRRf090rMYSxX1RD7u6yeGn79u3rymPuCQV+vrdd9+ZmhQrEz33piaL+u4PqZy7Ojd03nTv3t11NKJtkZd/nqiJZ3yZf0mfWnq/LDLV83P6N8jzPNf8eujQoSYjP81XX31l119/vfv7rP2jv+21a9d252xQO/Dyy844fYFK6S/CEgggkC0BXSTpolB/OPx1aNrTTz9tf/vb3+zRRx+1H3/80fUQddVVV9m5555rgwYNcp1pnHrqqfbqq6+6YG2HHXawm2++2fRwsx7CTmw3r4e49cfwggsucB2C6B/+Ro0a2Zlnnmn/+te/TP/pgvSxxx4zLau297oo1HQGBPIl4J8L99xzj/3zn/90QdBdd91lDzzwgOvBc8CAAaYOCQYPHlzk5sODDz7o0rz77rvu+a+XX37ZPeCvTmi0Lbr4UhCkc0jPpKnmQBdijzzyiGabzkldiB122GGuxkxpu3btasOHDy/26gZdoP3lL38xnZ9jxoxx55fOH/9ZHPUop7y7devmzunbb7/dNF/nmzooUUCl+VrnDz/84DpcKOtcVXm1rhtuuMH9W/Df//7XXUzqAlkXfWqipvXefffdpjS6aFUHKNruZF5uo/mIhIBqvXRDwfM8dxwvWLAgtl1qqjhlyhRTrZmOOR3v8f/O64aGjnU91+wvNG3aNBfY6ZhUUDFv3jx3g0NNIHUe+un8sYIk3QzUTY4TTjjBPTemvzGHHnqoLVy40E+W0lhl0/nlJ9Z3BSa6qTJ9+nTbc8897eKLL3Y3Ufw0Oo/KOnd17j300EOmf1f0N1S/dW6ruaZubugZ1bfeesvlrTJofjrp/bLI8rjjjrPFixe7mz66iaS/ueqdUv/2yPPf//636d8r/Vugv8vvvfee6d84/bukZqL6N8zPj3E0BMoViEVj09kKBPIvoH+UPe+XO+X6o6l/9PXHyy+d7mbr7v/ll1/u7oip/bsCLP0x0x+4++67z04//XTTH1UFa/pHXP+w6264mpvoH3A9H6BuhZWn/vF/8sknbdddd3U9YCl/fR+w5SJW8/UHU2Mtp7v06jkrEw9dK08GBCoioGNV54Jqd9RttZpbdejQwXTDQOeCar1Um6Xa488++8ytSneadSNDPaq1bNnSXaS1a9fOHn74Yfc6CZeojI+///3vpmc7/QtJdWCgCyjP81xPcrqI9bPQuaYLUvX0pg5HVGaNFZwpjS4MVSb1LqdzVNui814XYKoNe/31100XwBMmTHDrTOVc1Tbrrrr+7dA6FGDKRPnrZou+a7p8VBbd6T/jjDNM/z4ooJw1a5bpglppGKInoOe7dOwrAFANrL+FCuB1HukY1L/3kydPNgXx/nzdsDj++ONNtTGatmzZMhfgX3jhhaZzQce2elPUzTodw6oh/vLLL5U0NugcVfCv41nHnf6+qIZOPTD+9a9/dTcqYonL+KJARF3we97Wv5mqYdO5rHPnnHPOce8u0/z4bFI5d7XtOp9Va+d5nn3wwQeuxk+Bmf5dUe22blSqJl7nVrrpVR79G3H11Ve7Gmp5qCmlBk3T+atzUUYKGq+44gpXS67ATC1fxo0bZ6qxfPPNN00Bm/JjiI4AgVh09mXUtySS25fYfb3utj333HOxnqziN1p/9DSoedVee+3lLig13/M8UxNDfe/YsaPpD6u+a2jSpImpxyv9cVUApmm6oFQgpyZM+kOmaRqUVmP9g6+xP6iZlOd5/k/GCORdQLVLquXRHXAd836BdG7o7r0uevyeD3XOqIZYNWi6e+6n1cWpeif1f5c21sWm8lbw5KfTb92g0MWtAit/ui7itH41afKnaaymvbpY1Tmu+ZqmQXnoPDzkkENc5zye55leGaHarHTOVc/zTPkrT70qQ/nquwaVRReP6llOTRE1TYMMdeGqC76vv/5akxgiKKBmcLqBoU3TRb32t45B/a1RTdY+++zjarl0DOiZMKXTjT3VCHXbUnOr3xpUG6PjXYGUfvvDHnvsYfr7oXmqYfWna6yu7+OPuUaNGtk111zjjlXVPqkGWOlSGfR3S8GYyq5BNyXVJFLrV22vmmGqGV98Xumcu/45rSbI/t9U5aW/lQpkVSOvQdM0pJNe5R4/frwdccQRrlZQy2tQHvo3S9/lobHOYwVpOv9Vm6keY3XzR0Fa/HmttAzhFyAQC/8+ZAsiJKCLRjV/ir+4zPTm6R95NXFUUw61pVfzB93h9P9QZ3p94c6P0odRQBeauqhU2XUxM3jwYPdcpe6e646ybjYoCNF0pSlr0B1qPR+i5zNVW63mSkcffbRrpljSsvEXbEqjCygFXDr/PK/4jY1k0zWNc1V6DBUVUE2ojj81sVMtiwID1Rx36dLFBQaq4dI6FJzp/PFry3RDQNM1qHZLzWV1Hnme524Gep7ngjDd7FMa1a5qXNqgwENBlWqX/PO0tPQlzdMNGTVL1HNU+rup5yLVZX/8s27lOXdLWp8Cv3QCx/j02k5tr/7Wet4vdp7nuUcOtE7V4vs3TPXb8zzTjVDjv0gLEIhFeveycWEU0IWjmiHqQjGb5dcfY9350x8w1bCpSWM210feCORLQC+w1UWkmgKrmZ7udusCTsFVqmVSWj0Xo3NFyygf1TLpe/ygmi1d8Kq5lC5o/Xm6CNNv1RDobrc/Pek4YSLnagIIP9MWUPCkY1PPN6lTCgVkqilVLZIy0/OCqq1SLZgCGdUg6+ac/h5pvgYdh0rz+eefm2qkkg1qyq60pQ06/v31lpYu1XlqOjl8+HBXy6ZAUc9vxS+b6rkbv0ymvyvwlb2aSiZz0zQ1Dc323/1Mbxf5VVyAQKzihuSAQKgE9A++nhXRH2Z19KEL1NNPP934AxCq3Uhh0xRQ8yU9g6GmUwrI1EQr1Q4D9PyGagbUxEoXoZdccolr8pusCOp9UT2e6VkcPTujDgV0IahpOuf0LEuy5ZJN41xNpsK08gioRtav9Xr88cdNnbuodli1rspPNVTdunWzDRs2uA6a9Mzg/vvvr1mxQc3zVCOkebGJ5fiic0LNedUsT80my5FFsUV0fqt5pGaoUwyNNaRz7ip9tgYFsNoHU6dOdUFsttZDvuETIBAL3z6jxAUkoPbuunOZyU3WMyzq0U0Xo2p/ruaQmcyfvBAIkoCa+uh1EHo2S+XSxaQuztS5hToMUI+Fml7SoOde1OGFasKGDBnimnGVlFbTPc8zPeCvi171WKraMT2bpfXq+Rs9b6J0qQycq6kokSZVAT2fpFowNYFTk3Q9J+kvq4BMHXPotzq30bNVzZo108/YoONYNwfUI298sOMnUA9/+pvl/y5prCZ7ujmhZ80UoJSULp3pajKspolaRp1PaZzuuatlsjXoWW09v60gWI8FJK5Hnrpxk9ikOTFdBH8X/CYRiBX8IQBArgXWr1/vupgua73q2le9r+kufFlp05nvN5HQBaruTGpZ/XFVj1j6rkG/1cRD3xkQCJqALlY0pFou9WSoO9F+et18OOqoo1wPZv40f6waATUh1G+dgxrUrFDni+Zpuobvv//e1R7ouwb91lgXVH/84x/dqyU+/vhjd/dby+kdfaVddKqGwA8WlY8GzlUpMGRKQIGVmiAqP40Ta6MUyNsCnAAAEABJREFUGKnzFs/zTM0SPc9T0tigGmR1kKPzSct/+OGH7r2T+juiHhb1Xj41+40tkOSL/rao90T9HVQvhQoAkyRLa5LWP3r0aNPfLD03pg5IlIH/XFaq5646+FH5tGwqQzrpZa9yqYyyUxNFGWh9CozVKqVx48ZF/k3Svxv+v0WplIc04RQgEMvHfmOdBSugi0fdNfTf5aKufPUPcTyI0ugPXK9evVx39bqTpvlqQqg/LOrNSstpmgb9Q615+q6xfuu78tUdf6XX4C+jDgd0V15/ONU9vd4pprv3akql5fQcwJVXXmnqIUt56IFutW3XHdSlS5cqiRu0Hv/OXvx63Uw+EKiAgC6sdHzquNOg75qmLHVM6uF8BSk6Vv3jWvMUMGmavquHRJ1L+q4gR8+E6W698tGdc732QXf4FZApjQY9a6JgSN1LqxZN71VSkyc1S1STxv79+7t3/Khret0k0TLqrltpVYug3+ri+vnnnze9p0vPXWq6P+gZEF2IKZ0GlU/ptY16piyxo4N0ztWStl1eakqm8zXxHNbNF98v3ktlY4iegOdtDbD0bKOed0zcQjXt02sedPNPXaonztffDb0aRcvr337VqCmQUq2vXp2gGuPddtvNLabp6q1UAYfOJ92g0Lmn80bvtNO5kUqnVDp39aoWZapzU7VpOqb1W/npuFWAoxsd6thCXeKrCbDmK/hJ9dzVuajWJzpPdB6qNk15aFDtnX8Oaaz1p5ve8zxToCpX/fujf0PUVFFlVu1j/fr17cQTT9TqTNcH2i5tr/7tUJncDD4iKUAgFsndykYFUUAXj+qCVn/odOGlMuoPl/4h9jwv1gOV/oDpD5zupvt/LNWEUJ1q6A6ZltUD/5qmPBWo6YJR+Wms35p++umnm94RpPQatIz+iKqJlN6hpH/49Y4iNZVQL3B6bkzdeasG4IADDjCl18Pd8e8X04WhHvRWQKY7n+o6OHG9+s2AQHkFdHzpwm7YsGGxLPRd0zRPx7VuUuhiSMGHunrXuaB5ulBUb29aUDcTdM7oQk4XjrroUdMr5aNnU3SRo3d2qQZA6TXo2S91YKMmhAro1MOZag10Xul4V0cGaj6kZyt1Iak72yqDziXVgikPNYvSoKBL6X73u9+ZP+h80rrVoYEuKFU+vetLyykfdTuvbdFvDameq7ogTdx2BZm6EaN1qic5eSno0jmsfwfkpW2bMmWKVmW+l2oP3AQ+IimgQEC1XWpqm7iBnueZzi0dr/o7kjhfv3v06GEKwhR46W+Xpum5SN1I8AMJTdN5OXv2bNPfuNtuu829kkWddEybNs00XTdGlK60QeeCnl1WxzhKp5svqpHTej3PM53L7dq1c+/dO+uss0zn7Lnnnuv+liq9egVO5dzVDRadizrftZxuhOoc1nmiQYGp/ubpHNK5dMopp1g66fVvlvJVnqpN1L8zderU0STX46TeU3bXXXeZuqnXealgVoGYEtx+++3ueVT9TddvhugJVIreJrFFCARTQBdZuijUP+apDLq4UjCkrdEfk8RlNC1ZnlqHpmt+4jK6AFR+6npbd8M1X39AdXGmPxL6x1/TNV9/ACdPnuyaVimdP6gHOjWhWLhwYZF5/nqVPwMC2wTSHun48o+1xLHmJTuuNU3zEtPr+FWwocBK3WvrRobS6G62mkfpmI8voH6rhkppdOdeF46ar4s91fpqum6Q6AaHzg/lq5scZ599duziT3fg9VsXcwrcdDffH3Sxpbv36pJeQZHKpzzjB22L1ukPOhd1TipNSedqsm3X+ak77cnWoX8Hki2jtNouf92MoyegAEsddaj2N9nW6X13w4cPTzYrNk3dz6vWV+eRjks1+9XNu1iCbV/0d0I3+NTBh9Lp/FPNlc6zbUlKHelc0HJlDTrW77nnHtONi8QMUzl39X5AHfuJ69F5oiFxum5eppNe2+GXSzdjFdzpRozyVc2bgkcFYUqT7Lzkb6tkojsQiEV337JlCCCAAAI5FNDNEz33ojvaqhHo1q2bKfDyB/WYqKBMNQd6viSHRSuwVbG5CCCAQDgECMTCsZ8oJQIIIIBAwAXUVFfPnvkP4Scrrppl6U5427Ztk81mGgIIhFWAciNQDgECsXKgsQgCCCCAAAKJAnouS02+9FylnitRt/d6DlMP3N99992mZ9Quvvhi9zyWnllLXJ7fCCCAAAKFJVDRQKywtNhaBBBAAAEEShBQL3DqMECdi6hWTB17qCMAPeA/ceJEO/PMM00P45fWjX0JWTMZAQQQQCCCAgRiEdyp0d8kthABBBAIpoA6KLj22mtdF9RqgqhBnRS89NJLph7n9A6zYJacUiGAAAII5FqAQCzX4qwPAQTCKUCpEUAAAQQQQACBDAoQiGUQk6wQQAABBBDIpAB5IYAAAghEV4BALLr7li1DAAEEEEAAAQTSFSA9AgjkSIBALEfQrAYBBBBAAAEEEEAAAQSSCRTmNAKxwtzvbDUCCCCAAAIIIIAAAgjkUYBALI/4WjUDAggggAACCCCAAAIIFJ4AgVjh7XO2GAEEEEAAAQQQQAABBPIsQCCW5x3A6hFAAIHCEGArEUAAAQQQQCBegEAsXoPvCCCAAAIIIBAdAbYEAQQQCLAAgViAdw5FQwABBBBAAAEEEAiXAKVFIFUBArFUpUiHAAIIIIAAAggggAACCGRIIIOBWIZKRDYIIIAAAggggAACCCCAQMQFCMQivoMjv3lsIAIIIIAAAggggAACIRQgEAvhTqPICCCQXwHWjgACCCCAAAIIVFSAQKyigiyPAAIIIIBA9gVYAwIIIIBAxAQIxCK2Q9kcBBBAAAEEEEAgMwLkggAC2RQgEMumLnkjgAACCCCAAAIIIIBA6gIFlJJArIB2NpuKAAIIIIAAAggggAACwRAgEAvGflApGBBAAAEEEEAAAQQQQKBABAjECmRHs5kIJBdgKgIIIIAAAggggEA+BAjE8qHOOhFAAIFCFmDbEUAAAQQQQMAIxDgIEEAAAQQQQCDyAmwgAgggEDQBArGg7RHKgwACCCCAAAIIIBAFAbYBgVIFCMRK5WEmAggggAACCCCAAAIIIJB5gewEYpkvJzkigAACCCCAAAIIIIAAApERIBCLzK5kQxBAAAEEEEAAAQQQQCAsAgRiYdlTlBMBBIIoQJkQQAABBBBAAIFyCRCIlYuNhRBAAAEEEMiXAOtFAAEEEIiCAIFYFPYi24AAAggggAACCGRTgLwRQCDjAgRiGSclQwQQQAABBBBAAAEEEKioQNSXJxCL+h5m+xBAAAEEEEAAAQQQQCBwAgRigdslKhADAggggAACCCCAAAIIRFmAQCzKe5dtQyAdAdIigAACCCCAAAII5EyAQCxn1KwIAQQQQCBRgN8IIIAAAggUqgCBWKHuebYbAQQQQACBwhRgqxFAAIFACBCIBWI3UAgEEEAAAQQQQACB6AqwZQgUFyAQK27CFAQQQAABBBBAAAEEEEAgqwJZD8SyWnoyRwABBBBAIA2BzZs325w5c+y0006zI4880lavXp3G0uFJ+tNPP9k777xjRx99tB1++OGR3c7w7BFKigACCBQXIBArbsKU8AuwBQggUCACCqzee+8969evn+20007meZ4bdtllF7vwwgvtq6++Ms2/5557bMOGDaaxpj/66KP2448/RlJp7dq1NmrUKLf9L730km3atCmS28lGIYAAAmEXqBT2DaD8CCCAQDAEKEWuBb7++ms78cQTrXPnzlalShV78803XdCh4GzWrFnWpk0ba9u2rXXq1Mm+//57l+bss892QYqCtlyXN1frq169ul188cU2evRoq1atWq5Wy3oQQAABBNIUIBBLE4zkCCCAAAL5F1i4cKFrcjdhwgR74okn7JFHHrG99trLtttuO1e4evXq2RlnnGEKyFq0aGFz58510/VRp04dq1mzpr6GfyhlCypVquRqB0tJwiwEEEAAgTwKVMrjulk1AggggAACaQts3LjR1fjMnj3b/vznP1vfvn1LDDh+/etf24MPPmg1atRIez0sgAACyQWYigACmREgEMuMI7kggAACCORI4LXXXrOnn37aVLM1aNCgEoMwvzhquqgmimvWrPEnMUYAAQQQCJdAJEtLIBbJ3cpGIYAAAtEUUMcTaoao58AUXKnGq6wtrVy5sp1zzjkl1oq9+eab1rp1axfQafzhhx8Wy/Ltt992z6J53tbOQBo2bGjXXHONrVu3LpZWNXXPPvusde/e3QYOHGgq41NPPWXqOMTzPDv44INt0aJF5U7vL6h13nTTTaYyeJ5neiZs6NChRqDpCzFGAAEEwiFQKRzFLOBSsukIIIAAAjGB7777zqZNm+Z+77777rbjjju67+X5+Pnnn92zZY899phdccUVrufFTz/91AYPHmwrV66MZfnKK6+4IOqwww4z9UioeV27drXhw4fbjTfe6NJp+kMPPeR6ZXz11VddOs1/4403bOTIkXbMMcfYW2+95ZpUKphMN71byZYPrfu4446zxYsX2xdffOG6pT/zzDNdOU499dQigeGW5PyPAAIIIBBgAQKxAO8cioZAvgRYLwJBFVDvhz/88IMrXsuWLd24vB8zZ840BXMPPPCA/f73v7e7777b9ttvP/eesQULFsSy/fvf/25Vq1a1E044wfVCWKtWLVPw43mezZ8/39V8qVZK084//3xXs/bBBx9Y//79XWCmvO+44w5r1KiRe7fX8uXLXS1WOulVGNWwXX311a5DkhtuuMHV8OnZN01TuceOHWvqvERpGRBAAAEEgi9AIBb8fUQJEUAAgUIQSGkbVZO0fv16l9bvIdH9KMdH+/bt7aCDDootWbduXdfl/U8//eS6wfdnqNdFzYuvfdNvdQ2vmqn4JoH+dD2X1qpVKz8La9CggSlwVN4a/BnppF+yZImNHz/ejjjiCBcQxuehrvr1W7VxGjMggAACCARfgEAs+PuIEiKAAAIIbBPQc1EKXvRTtVEaZ3rQi5/1HJafr5ot6tmu3/zmN6amkWpqePTRR7vmh36aVMcrVqywb775JtXkFp9e701TbZpeSO15W59V87ytY72gWpl+9tlnrrmivjOkIkAaBBBAIH8CBGL5s2fNCCCAAAJpCqinxObNm7ulli5dan7tmJuQoQ89w6UAKD47BWLqJl/vKtN0PVem5oj6nqtBNWKqEVRTSTVTTDZMnjy5IN6Rlitz1oNAVgTIFIFtAgRi2yAYIYAAAggEX6BmzZrWp08fV1A9h6XgxP3I4oeevVLwpx4VP//8c7vkkkts5513zuIak2etZ8zUHHLq1KmmICx5KqYigAACCIRFIJeBWFhMKCcCCCCAQIAFevXqZXr+Sk311FNhWUGJupW/+eabrTxBm54Bu+CCC0w1YUOGDCnybFauiRT87bTTTvb444/b9OnTi61ePSreeuutFv8MWrFETEAAAQQQCIwAgVhgdgUFyY4AuSKAQAtEncgAAAV4SURBVNQEdt11V9ftvJopXn/99e57ScGYgrDRo0fb3nvvbU2aNHEUClQ0qJMNzXcTS/hQsKfnslavXm16dsxPpt4bE39rnrrEL6ksmp84pJO+WbNmrjZQvUbqXWVqoqimmVqfng07/fTTrXHjxq5XxcT18BsBBBBAIHgCBGLB2yeUCAEEwi5A+bMu0LFjR3vmmWdMNUQDBgywI4880r2nS4GJVq6x3tvVu3dvU++IClw0XUGLpqt2bM6cOa6rek3XoIBL0/RdXdsrWFPwo2aJer+YuqN/8MEH7Q9/+IOpy3ul+/LLL23UqFH29NNPu5oo5a2OPmbNmuXe9aU0GvSM2bx589x7vjRWOZR/Ouk9z7OLLrrIdbG/atUqVw41VaxUqZKpZ8f69evbiSeeqNW5posfffSR61Dkq6++Mj1P52bwgQACCCAQGAECscDsCgqCAAIIIJCOwKGHHmoLFiwwNU9UzVW3bt1c00HP81ywohc/qxmf0vn5qtbo5JNPdoGKOr448MAD7bTTTnMvRFYX8++//75LeuWVV5pe4LzDDju4Gjc1hdTLmdX0b9CgQaaATMGdgjcFQArSlF49GiqDDz/80FRzpxc+a9DzZQqGFIBp/aeccorLP9X0KrfyVZ6vvfaae06tTp06muRq+vSesrvuusu23357N03pFaDqxxdffGHq8VHl0G8GBBBAAIFgCBCIBWM/UAoEEEAAgXII6IXGCjpUA6UaJgU6Gj7++GNTkKOXL8dn+8gjj7ggTGn8QdMuvfTSYtMnT97aA2G7du3sk08+cfOVb9euXV3PhC+88IKrcTr77LNN7xhTej9Pf6x8Nfi//bECxHTSq4z+dmibFFSpZ0flp+fYzj333FgQpnRKr3nxg8qheQwIZFCArBBAoAICBGIVwGNRBBBAAAEEEEAAAQQQyKVAdNZFIBadfcmWIIAAAggggAACCCCAQEgECMRCsqNUTAYEEEAAAQQQQAABBBCIhgCBWDT2I1uBQLYEyBcBBBBAAAEEEEAgCwIEYllAJUsEEEAAgYoIsCwCCCCAAALRFyAQi/4+ZgsRQAABBBBAoCwB5iOAAAI5FiAQyzE4q0MAAQQQQAABBBBAQAIMhS1AIFbY+5+tRwABBBBAAAEEEEAAgTwI5CkQy8OWskoEEEAAAQQQQAABBBBAICACBGIB2REUIwcCrAIBBBBAAAEEEEAAgYAIEIgFZEdQDAQQiKYAW4UAAggggAACCCQTIBBLpsI0BBBAAAEEwitAyRFAAAEEQiBAIBaCnUQREUAAAQQQQACBYAtQOgQQSFeAQCxdMdIjgAACCCCAAAIIIIBA/gVCXgICsZDvQIqPAAIIIIAAAggggAAC4RMgEAvfPlOJGRBAAAEEEEAAAQQQQCDEAgRiId55FB2B3AqwNgQQQAABBBBAAIFMCRCIZUqSfBBAAAEEMi9AjggggAACCERUgEAsojuWzUIAAQQQQACB8gmwFAIIIJALAQKxXCizDgQQQAABBBBAAAEEShZgTgEKEIgV4E5nkxFAAAEEEEAAAQQQQCC/AvkPxPK7/awdAQQQQAABBBBAAAEEEMi5AIFYzslZYRAEKAMCCCCAAAIIIIAAAvkUIBDLpz7rRgCBQhJgWxFAAAEEEEAAgZgAgViMgi8IIIAAAghETYDtQQABBBAIqgCBWFD3DOVCAAEEEEAAAQTCKECZEUAgJQECsZSYSIQAAggggAACCCCAAAJBFQhjuQjEwrjXKDMCCCCAAAIIIIAAAgiEWoBALNS7T4VnQAABBBBAAAEEEEAAgbAJEIiFbY9RXgSCIEAZEEAAAQQQQAABBCokQCBWIT4WRgABBBDIlQDrQQABBBBAIEoC/w8AAP//538TMQAAAAZJREFUAwCT/7bQk0PKIwAAAABJRU5ErkJgg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053" name="Picture 5" descr="C:\Users\amitr\Downloads\A, B and Grand Total.png"/>
          <p:cNvPicPr>
            <a:picLocks noChangeAspect="1" noChangeArrowheads="1"/>
          </p:cNvPicPr>
          <p:nvPr/>
        </p:nvPicPr>
        <p:blipFill>
          <a:blip r:embed="rId5"/>
          <a:srcRect/>
          <a:stretch>
            <a:fillRect/>
          </a:stretch>
        </p:blipFill>
        <p:spPr bwMode="auto">
          <a:xfrm>
            <a:off x="7543800" y="2187819"/>
            <a:ext cx="3067416" cy="2552700"/>
          </a:xfrm>
          <a:prstGeom prst="rect">
            <a:avLst/>
          </a:prstGeom>
          <a:noFill/>
        </p:spPr>
      </p:pic>
    </p:spTree>
    <p:extLst>
      <p:ext uri="{BB962C8B-B14F-4D97-AF65-F5344CB8AC3E}">
        <p14:creationId xmlns:p14="http://schemas.microsoft.com/office/powerpoint/2010/main" xmlns="" val="146398315"/>
      </p:ext>
    </p:extLst>
  </p:cSld>
  <p:clrMapOvr>
    <a:masterClrMapping/>
  </p:clrMapOvr>
  <mc:AlternateContent xmlns:mc="http://schemas.openxmlformats.org/markup-compatibility/2006">
    <mc:Choice xmlns:p14="http://schemas.microsoft.com/office/powerpoint/2010/main" xmlns="" Requires="p14">
      <p:transition p14:dur="250">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3.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4.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2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1.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5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5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xmlns="">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xmlns=""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136</TotalTime>
  <Words>104</Words>
  <Application>Microsoft Office PowerPoint</Application>
  <PresentationFormat>Custom</PresentationFormat>
  <Paragraphs>9</Paragraphs>
  <Slides>1</Slides>
  <Notes>0</Notes>
  <HiddenSlides>0</HiddenSlides>
  <MMClips>0</MMClips>
  <ScaleCrop>false</ScaleCrop>
  <HeadingPairs>
    <vt:vector size="6" baseType="variant">
      <vt:variant>
        <vt:lpstr>Theme</vt:lpstr>
      </vt:variant>
      <vt:variant>
        <vt:i4>1</vt:i4>
      </vt:variant>
      <vt:variant>
        <vt:lpstr>Slide Titles</vt:lpstr>
      </vt:variant>
      <vt:variant>
        <vt:i4>1</vt:i4>
      </vt:variant>
      <vt:variant>
        <vt:lpstr>Custom Shows</vt:lpstr>
      </vt:variant>
      <vt:variant>
        <vt:i4>1</vt:i4>
      </vt:variant>
    </vt:vector>
  </HeadingPairs>
  <TitlesOfParts>
    <vt:vector size="3" baseType="lpstr">
      <vt:lpstr>BCG Grid 16:9</vt:lpstr>
      <vt:lpstr>Campaign Performance Recommendation for New Customer Growth </vt:lpstr>
      <vt:lpstr>Format Guide Workshop</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 Performance Recommendation for New Customer Growth </dc:title>
  <dc:creator>Scobee, Kyle</dc:creator>
  <cp:lastModifiedBy>AMIT ROY</cp:lastModifiedBy>
  <cp:revision>11</cp:revision>
  <cp:lastPrinted>2016-04-06T18:59:25Z</cp:lastPrinted>
  <dcterms:created xsi:type="dcterms:W3CDTF">2025-04-28T17:07:03Z</dcterms:created>
  <dcterms:modified xsi:type="dcterms:W3CDTF">2026-03-14T19:23:16Z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